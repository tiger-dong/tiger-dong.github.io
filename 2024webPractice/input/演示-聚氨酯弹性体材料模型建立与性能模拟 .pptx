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ink/ink2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3.xml" ContentType="application/inkml+xml"/>
  <Override PartName="/ppt/notesSlides/notesSlide6.xml" ContentType="application/vnd.openxmlformats-officedocument.presentationml.notesSlide+xml"/>
  <Override PartName="/ppt/ink/ink4.xml" ContentType="application/inkml+xml"/>
  <Override PartName="/ppt/notesSlides/notesSlide7.xml" ContentType="application/vnd.openxmlformats-officedocument.presentationml.notesSlide+xml"/>
  <Override PartName="/ppt/ink/ink5.xml" ContentType="application/inkml+xml"/>
  <Override PartName="/ppt/notesSlides/notesSlide8.xml" ContentType="application/vnd.openxmlformats-officedocument.presentationml.notesSlide+xml"/>
  <Override PartName="/ppt/ink/ink6.xml" ContentType="application/inkml+xml"/>
  <Override PartName="/ppt/notesSlides/notesSlide9.xml" ContentType="application/vnd.openxmlformats-officedocument.presentationml.notesSlide+xml"/>
  <Override PartName="/ppt/ink/ink7.xml" ContentType="application/inkml+xml"/>
  <Override PartName="/ppt/notesSlides/notesSlide10.xml" ContentType="application/vnd.openxmlformats-officedocument.presentationml.notesSlide+xml"/>
  <Override PartName="/ppt/ink/ink8.xml" ContentType="application/inkml+xml"/>
  <Override PartName="/ppt/notesSlides/notesSlide11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notesSlides/notesSlide12.xml" ContentType="application/vnd.openxmlformats-officedocument.presentationml.notesSlide+xml"/>
  <Override PartName="/ppt/ink/ink14.xml" ContentType="application/inkml+xml"/>
  <Override PartName="/ppt/notesSlides/notesSlide13.xml" ContentType="application/vnd.openxmlformats-officedocument.presentationml.notesSlide+xml"/>
  <Override PartName="/ppt/ink/ink1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61" r:id="rId1"/>
  </p:sldMasterIdLst>
  <p:notesMasterIdLst>
    <p:notesMasterId r:id="rId21"/>
  </p:notesMasterIdLst>
  <p:sldIdLst>
    <p:sldId id="256" r:id="rId2"/>
    <p:sldId id="257" r:id="rId3"/>
    <p:sldId id="282" r:id="rId4"/>
    <p:sldId id="280" r:id="rId5"/>
    <p:sldId id="258" r:id="rId6"/>
    <p:sldId id="270" r:id="rId7"/>
    <p:sldId id="269" r:id="rId8"/>
    <p:sldId id="283" r:id="rId9"/>
    <p:sldId id="284" r:id="rId10"/>
    <p:sldId id="268" r:id="rId11"/>
    <p:sldId id="261" r:id="rId12"/>
    <p:sldId id="285" r:id="rId13"/>
    <p:sldId id="271" r:id="rId14"/>
    <p:sldId id="281" r:id="rId15"/>
    <p:sldId id="272" r:id="rId16"/>
    <p:sldId id="273" r:id="rId17"/>
    <p:sldId id="278" r:id="rId18"/>
    <p:sldId id="279" r:id="rId19"/>
    <p:sldId id="259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69"/>
    <p:restoredTop sz="85357"/>
  </p:normalViewPr>
  <p:slideViewPr>
    <p:cSldViewPr snapToGrid="0">
      <p:cViewPr varScale="1">
        <p:scale>
          <a:sx n="103" d="100"/>
          <a:sy n="103" d="100"/>
        </p:scale>
        <p:origin x="1248" y="176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7T02:31:37.969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0 0 16383,'0'0'0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7T02:31:37.969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0 0 16383,'0'0'0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7T02:31:37.969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0 0 16383,'0'0'0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7T02:31:37.969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0 0 16383,'0'0'0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7T02:31:37.969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0 0 16383,'0'0'0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7T02:31:37.969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0 0 16383,'0'0'0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7T02:31:37.969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0 0 16383,'0'0'0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7T02:31:37.969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0 0 16383,'0'0'0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7T02:31:37.969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0 0 16383,'0'0'0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7T02:31:37.969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0 0 16383,'0'0'0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7T02:31:37.969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0 0 16383,'0'0'0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7T02:31:37.969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0 0 16383,'0'0'0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7T02:31:37.969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0 0 16383,'0'0'0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7T02:31:37.969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0 0 16383,'0'0'0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6-27T02:31:37.969"/>
    </inkml:context>
    <inkml:brush xml:id="br0">
      <inkml:brushProperty name="width" value="0.2" units="cm"/>
      <inkml:brushProperty name="height" value="1.2" units="cm"/>
      <inkml:brushProperty name="color" value="#849398"/>
      <inkml:brushProperty name="inkEffects" value="pencil"/>
    </inkml:brush>
  </inkml:definitions>
  <inkml:trace contextRef="#ctx0" brushRef="#br0">0 0 16383,'0'0'0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B125C1-D4CC-2243-A77E-52A983D7D7DE}" type="datetimeFigureOut">
              <a:rPr kumimoji="1" lang="zh-CN" altLang="en-US" smtClean="0"/>
              <a:t>2024/7/8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4F41D1-9A21-C64E-9092-8597E79066F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48846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6.xm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5" Type="http://schemas.openxmlformats.org/officeDocument/2006/relationships/slide" Target="../slides/slide8.xml"/><Relationship Id="rId4" Type="http://schemas.openxmlformats.org/officeDocument/2006/relationships/slide" Target="../slides/slide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我给大家讲的是我暑假做的项目：聚氨酯弹性材料性能模拟的前端模块， 聚氨酯弹性材料性能模拟 能以更简洁的操作和更少的消耗，达到更快寻找到合适的材料配比。而我所做的前端模块，能大幅降低操作门槛与难度。</a:t>
            </a:r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F41D1-9A21-C64E-9092-8597E79066FF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897058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我将分四个部分，项目描述，项目完成情况，项目应用尝试 与 程序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F41D1-9A21-C64E-9092-8597E79066FF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66918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首先简单带各位了解项目背景。</a:t>
            </a:r>
            <a:endParaRPr kumimoji="1" lang="en-US" altLang="zh-CN" dirty="0"/>
          </a:p>
          <a:p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大家都坐过高铁，也都知道高铁需要铁轨才可以运行。我们却很少关注 高铁铁轨与路基之间所存在的垫片。 在分构图中我们发现 铁轨与路基之间含有 </a:t>
            </a:r>
            <a:r>
              <a:rPr kumimoji="1" lang="en-US" altLang="zh-CN" dirty="0"/>
              <a:t>4</a:t>
            </a:r>
            <a:r>
              <a:rPr kumimoji="1" lang="zh-CN" altLang="en-US" dirty="0"/>
              <a:t> 种垫片，本次项目所模拟制造的就是其中的 弹性垫片。弹性垫板主要作用于缓解铁轨和路基之间的磨损，防止热胀冷缩带来的损坏。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说回具体项目，弹性垫片需要不同材料之间的不同配比，和不断的尝试才能 得出可使用的样品，（转到下一张图）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F41D1-9A21-C64E-9092-8597E79066FF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610121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如图所示，我们需要使用下方 </a:t>
            </a:r>
            <a:r>
              <a:rPr kumimoji="1" lang="en-US" altLang="zh-CN" dirty="0"/>
              <a:t>7</a:t>
            </a:r>
            <a:r>
              <a:rPr kumimoji="1" lang="zh-CN" altLang="en-US" dirty="0"/>
              <a:t> 个主要反应物去进行至少</a:t>
            </a:r>
            <a:r>
              <a:rPr kumimoji="1" lang="en-US" altLang="zh-CN" dirty="0"/>
              <a:t>8</a:t>
            </a:r>
            <a:r>
              <a:rPr kumimoji="1" lang="zh-CN" altLang="en-US" dirty="0"/>
              <a:t>种配比组合。 每个反应物使用数量 与 所处的温度环境都将影响最终产出的聚氨酯弹性垫板质量。 更何况在实际模拟中我们需要加入更多种的反应物，它们也将产生更多样的配比。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（转到下一张图）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F41D1-9A21-C64E-9092-8597E79066FF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850991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实际去调试一种种材料与配比需要耗费大量的时间、材料与精力，并且难以得到及时反馈的还容易出错。为此我们创建了 聚氨酯弹性垫板的 计算模拟平台，让科学家能做的事情，交给任何普通用户也能做。 “读页面” 。 重要的是一个计算平台在方便记录数据查找数据的同时，更能简单的修改参数并及时得到结果。 （停顿一下，不用读） 下面我们来看看实际界面 （转下一张图片）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F41D1-9A21-C64E-9092-8597E79066FF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730791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如果让每一位铁路工人都牢记我们刚刚看到那些不同的反应物 和 复杂的配比，那简直太麻烦了。不光输入的时候容易出错，实验时也会非常的繁琐与不方便。 由此我创造了 用户界面，这将大大降低实验门槛，更方面让每一位铁路人员自己进行试验。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在创建页面中 材料的官能度、羟值与相对分子质量都不需要用户自己输入，在前面材料名称处选择好材料后，将通过我的程序自动填写，防止出错。当然，任务名称与描述和材料质量</a:t>
            </a:r>
            <a:r>
              <a:rPr kumimoji="1" lang="en-US" altLang="zh-CN" dirty="0"/>
              <a:t>/</a:t>
            </a:r>
            <a:r>
              <a:rPr kumimoji="1" lang="zh-CN" altLang="en-US" dirty="0"/>
              <a:t>投料份数与反应温度是用户必须填写的。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而在填写结束并 点击 提交方案后 （翻转到下一张图）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F41D1-9A21-C64E-9092-8597E79066FF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814342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页面会自动跳转到任务详情界面。在这里用户可以查看  当前任务运行状态， 任务名称， 任务描述，</a:t>
            </a:r>
            <a:r>
              <a:rPr kumimoji="1" lang="en-US" altLang="zh-CN" dirty="0" err="1"/>
              <a:t>Sbatch_id</a:t>
            </a:r>
            <a:r>
              <a:rPr kumimoji="1" lang="zh-CN" altLang="en-US" dirty="0"/>
              <a:t> 及 两图一表格</a:t>
            </a:r>
            <a:endParaRPr kumimoji="1" lang="en-US" altLang="zh-CN" dirty="0"/>
          </a:p>
          <a:p>
            <a:r>
              <a:rPr kumimoji="1" lang="zh-CN" altLang="en-US" dirty="0"/>
              <a:t>当然，在刚刚提交完任务时 当前任务状态显示的是正在运行或者即将完成。 图片也会显示为 正在运行。。。 ， 至于表格更是不会显示。 不过 随着时间的推移和及时的刷新，（刷新就是在目标进度上方的那个按钮 可以刷新页面获得最新数据）， 当任务状态显示已完成时 就代表图片和表格已经生成完毕，准备展现出来了。</a:t>
            </a:r>
            <a:r>
              <a:rPr kumimoji="1" lang="en-US" altLang="zh-CN" dirty="0"/>
              <a:t> </a:t>
            </a:r>
            <a:r>
              <a:rPr kumimoji="1" lang="zh-CN" altLang="en-US" dirty="0"/>
              <a:t>那么，在我们看到了生成出来的图片和表格，发现了一些新的数据，又或者想要为这个任务添加新的描述。这时（翻到下一页）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打印：调用浏览器打印</a:t>
            </a:r>
            <a:endParaRPr kumimoji="1" lang="en-US" altLang="zh-CN" dirty="0"/>
          </a:p>
          <a:p>
            <a:r>
              <a:rPr kumimoji="1" lang="zh-CN" altLang="en-US" dirty="0"/>
              <a:t>内容描述： 可更改，并会将更改后内容存储于服务器</a:t>
            </a:r>
            <a:endParaRPr kumimoji="1" lang="en-US" altLang="zh-CN" dirty="0"/>
          </a:p>
          <a:p>
            <a:r>
              <a:rPr kumimoji="1" lang="zh-CN" altLang="en-US" dirty="0"/>
              <a:t>图片 将在生成结束后 显示， 在此之前为 正在运行</a:t>
            </a:r>
            <a:endParaRPr kumimoji="1" lang="en-US" altLang="zh-CN" dirty="0"/>
          </a:p>
          <a:p>
            <a:r>
              <a:rPr kumimoji="1" lang="zh-CN" altLang="en-US" dirty="0"/>
              <a:t>表格 会在生成后显示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F41D1-9A21-C64E-9092-8597E79066FF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70751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可以点击 </a:t>
            </a:r>
            <a:r>
              <a:rPr kumimoji="1" lang="en-US" altLang="zh-CN" dirty="0"/>
              <a:t>edit</a:t>
            </a:r>
            <a:r>
              <a:rPr kumimoji="1" lang="zh-CN" altLang="en-US" dirty="0"/>
              <a:t> 修改按钮进入 任务描述的修改页面， 在里面输入想要加入</a:t>
            </a:r>
            <a:r>
              <a:rPr kumimoji="1" lang="en-US" altLang="zh-CN" dirty="0"/>
              <a:t>/</a:t>
            </a:r>
            <a:r>
              <a:rPr kumimoji="1" lang="zh-CN" altLang="en-US" dirty="0"/>
              <a:t>修改的描述后保存，内容描述就改变了。并且在我们即将看到的任务列表，相应的描述也会随之更新。</a:t>
            </a:r>
            <a:endParaRPr kumimoji="1" lang="en-US" altLang="zh-CN" dirty="0"/>
          </a:p>
          <a:p>
            <a:r>
              <a:rPr kumimoji="1" lang="zh-CN" altLang="en-US" dirty="0"/>
              <a:t>电子版本的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打印：调用浏览器打印</a:t>
            </a:r>
            <a:endParaRPr kumimoji="1" lang="en-US" altLang="zh-CN" dirty="0"/>
          </a:p>
          <a:p>
            <a:r>
              <a:rPr kumimoji="1" lang="zh-CN" altLang="en-US" dirty="0"/>
              <a:t>内容描述： 可更改，并会将更改后内容存储于服务器</a:t>
            </a:r>
            <a:endParaRPr kumimoji="1" lang="en-US" altLang="zh-CN" dirty="0"/>
          </a:p>
          <a:p>
            <a:r>
              <a:rPr kumimoji="1" lang="zh-CN" altLang="en-US" dirty="0"/>
              <a:t>图片 将在生成结束后 显示， 在此之前为 正在运行</a:t>
            </a:r>
            <a:endParaRPr kumimoji="1" lang="en-US" altLang="zh-CN" dirty="0"/>
          </a:p>
          <a:p>
            <a:r>
              <a:rPr kumimoji="1" lang="zh-CN" altLang="en-US" dirty="0"/>
              <a:t>表格 会在生成后显示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F41D1-9A21-C64E-9092-8597E79066FF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329637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打印：调用浏览器打印</a:t>
            </a:r>
            <a:endParaRPr kumimoji="1" lang="en-US" altLang="zh-CN" dirty="0"/>
          </a:p>
          <a:p>
            <a:r>
              <a:rPr kumimoji="1" lang="zh-CN" altLang="en-US" dirty="0"/>
              <a:t>内容描述： 可更改，并会将更改后内容存储于服务器</a:t>
            </a:r>
            <a:endParaRPr kumimoji="1" lang="en-US" altLang="zh-CN" dirty="0"/>
          </a:p>
          <a:p>
            <a:r>
              <a:rPr kumimoji="1" lang="zh-CN" altLang="en-US" dirty="0"/>
              <a:t>图片 将在生成结束后 显示， 在此之前为 正在运行</a:t>
            </a:r>
            <a:endParaRPr kumimoji="1" lang="en-US" altLang="zh-CN" dirty="0"/>
          </a:p>
          <a:p>
            <a:r>
              <a:rPr kumimoji="1" lang="zh-CN" altLang="en-US" dirty="0"/>
              <a:t>表格 会在生成后显示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F41D1-9A21-C64E-9092-8597E79066FF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954375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任务名称： 用户输入的任务名</a:t>
            </a:r>
            <a:endParaRPr kumimoji="1" lang="en-US" altLang="zh-CN" dirty="0"/>
          </a:p>
          <a:p>
            <a:r>
              <a:rPr kumimoji="1" lang="zh-CN" altLang="en-US" dirty="0"/>
              <a:t>任务描述： 用户输入的描述（可在详情页更改）</a:t>
            </a:r>
            <a:endParaRPr kumimoji="1" lang="en-US" altLang="zh-CN" dirty="0"/>
          </a:p>
          <a:p>
            <a:r>
              <a:rPr kumimoji="1" lang="zh-CN" altLang="en-US" dirty="0"/>
              <a:t>生成时间： 月</a:t>
            </a:r>
            <a:r>
              <a:rPr kumimoji="1" lang="en-US" altLang="zh-CN" dirty="0"/>
              <a:t>/</a:t>
            </a:r>
            <a:r>
              <a:rPr kumimoji="1" lang="zh-CN" altLang="en-US" dirty="0"/>
              <a:t>日</a:t>
            </a:r>
            <a:r>
              <a:rPr kumimoji="1" lang="en-US" altLang="zh-CN" dirty="0"/>
              <a:t>/</a:t>
            </a:r>
            <a:r>
              <a:rPr kumimoji="1" lang="zh-CN" altLang="en-US" dirty="0"/>
              <a:t>年</a:t>
            </a:r>
            <a:r>
              <a:rPr kumimoji="1" lang="en-US" altLang="zh-CN" dirty="0"/>
              <a:t>/</a:t>
            </a:r>
            <a:r>
              <a:rPr kumimoji="1" lang="zh-CN" altLang="en-US" dirty="0"/>
              <a:t>当天时间</a:t>
            </a:r>
            <a:endParaRPr kumimoji="1" lang="en-US" altLang="zh-CN" dirty="0"/>
          </a:p>
          <a:p>
            <a:r>
              <a:rPr kumimoji="1" lang="zh-CN" altLang="en-US" dirty="0"/>
              <a:t>任务状态：在提交</a:t>
            </a:r>
            <a:r>
              <a:rPr kumimoji="1" lang="en-US" altLang="zh-CN" dirty="0"/>
              <a:t>/</a:t>
            </a:r>
            <a:r>
              <a:rPr kumimoji="1" lang="zh-CN" altLang="en-US" dirty="0"/>
              <a:t>即将完成</a:t>
            </a:r>
            <a:r>
              <a:rPr kumimoji="1" lang="en-US" altLang="zh-CN" dirty="0"/>
              <a:t>/</a:t>
            </a:r>
            <a:r>
              <a:rPr kumimoji="1" lang="zh-CN" altLang="en-US" dirty="0"/>
              <a:t>已完成变化（反应任务状态</a:t>
            </a:r>
            <a:endParaRPr kumimoji="1" lang="en-US" altLang="zh-CN" dirty="0"/>
          </a:p>
          <a:p>
            <a:r>
              <a:rPr kumimoji="1" lang="zh-CN" altLang="en-US" dirty="0"/>
              <a:t>查看： 进入详情</a:t>
            </a:r>
            <a:endParaRPr kumimoji="1" lang="en-US" altLang="zh-CN" dirty="0"/>
          </a:p>
          <a:p>
            <a:r>
              <a:rPr kumimoji="1" lang="zh-CN" altLang="en-US" dirty="0"/>
              <a:t>删除任务： 任务不在显示，并且无法撤销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F41D1-9A21-C64E-9092-8597E79066FF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131103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2400" b="1" dirty="0">
                <a:latin typeface="KaiTi" panose="02010609060101010101" pitchFamily="49" charset="-122"/>
                <a:ea typeface="KaiTi" panose="02010609060101010101" pitchFamily="49" charset="-122"/>
                <a:cs typeface="微软雅黑" panose="020B0503020204020204" pitchFamily="34" charset="-122"/>
              </a:rPr>
              <a:t>流程图 </a:t>
            </a:r>
            <a:endParaRPr lang="en-US" altLang="zh-CN" sz="2400" b="1" dirty="0">
              <a:latin typeface="KaiTi" panose="02010609060101010101" pitchFamily="49" charset="-122"/>
              <a:ea typeface="KaiTi" panose="02010609060101010101" pitchFamily="49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zh-CN" sz="2400" kern="0" dirty="0">
              <a:ln>
                <a:solidFill>
                  <a:schemeClr val="tx1"/>
                </a:solidFill>
              </a:ln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  <a:hlinkClick r:id="rId3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457200" marR="0" lvl="0" indent="-4572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2400" kern="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sbatch </a:t>
            </a:r>
            <a:r>
              <a:rPr lang="zh-CN" altLang="en-US" sz="2400" kern="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平台需要的参数 在 </a:t>
            </a:r>
            <a:r>
              <a:rPr lang="en-US" altLang="zh-CN" sz="2400" kern="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config.json</a:t>
            </a:r>
            <a:r>
              <a:rPr lang="zh-CN" altLang="en-US" sz="2400" kern="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之中</a:t>
            </a:r>
            <a:endParaRPr lang="en-US" altLang="zh-CN" sz="2400" kern="0" dirty="0">
              <a:ln>
                <a:solidFill>
                  <a:schemeClr val="tx1"/>
                </a:solidFill>
              </a:ln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  <a:hlinkClick r:id="rId3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457200" marR="0" lvl="0" indent="-4572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400" kern="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包括 </a:t>
            </a:r>
            <a:r>
              <a:rPr lang="en-US" altLang="zh-CN" sz="2400" kern="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N0-N5</a:t>
            </a:r>
            <a:r>
              <a:rPr lang="zh-CN" altLang="en-US" sz="2400" kern="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endParaRPr lang="en-US" altLang="zh-CN" sz="2400" kern="0" dirty="0">
              <a:ln>
                <a:solidFill>
                  <a:schemeClr val="tx1"/>
                </a:solidFill>
              </a:ln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  <a:hlinkClick r:id="rId3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457200" marR="0" lvl="0" indent="-4572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sz="2400" kern="0" dirty="0">
              <a:ln>
                <a:solidFill>
                  <a:schemeClr val="tx1"/>
                </a:solidFill>
              </a:ln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  <a:hlinkClick r:id="rId3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457200" marR="0" lvl="0" indent="-4572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sz="2400" kern="0" dirty="0">
              <a:ln>
                <a:solidFill>
                  <a:schemeClr val="tx1"/>
                </a:solidFill>
              </a:ln>
              <a:solidFill>
                <a:schemeClr val="bg1"/>
              </a:solidFill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  <a:hlinkClick r:id="rId3" action="ppaction://hlinksldjum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457200" marR="0" lvl="0" indent="-4572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400" kern="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任务列表</a:t>
            </a:r>
            <a:endParaRPr kumimoji="0" lang="en-US" altLang="zh-CN" sz="2400" i="0" u="none" strike="noStrike" kern="0" cap="none" spc="0" normalizeH="0" baseline="0" noProof="0" dirty="0">
              <a:ln>
                <a:solidFill>
                  <a:schemeClr val="tx1"/>
                </a:solidFill>
              </a:ln>
              <a:solidFill>
                <a:schemeClr val="bg1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457200" defTabSz="914400">
              <a:buFont typeface="Arial" panose="020B0604020202020204" pitchFamily="34" charset="0"/>
              <a:buChar char="•"/>
              <a:defRPr/>
            </a:pPr>
            <a:r>
              <a:rPr lang="zh-CN" altLang="en-US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用户在本网页可以：</a:t>
            </a:r>
            <a:endParaRPr lang="en-US" altLang="zh-CN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371600" lvl="2" indent="-457200" defTabSz="914400">
              <a:buFont typeface="Arial" panose="020B0604020202020204" pitchFamily="34" charset="0"/>
              <a:buChar char="•"/>
              <a:defRPr/>
            </a:pPr>
            <a:r>
              <a:rPr lang="zh-CN" altLang="en-US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查找所有已生成的任务</a:t>
            </a:r>
            <a:endParaRPr lang="en-US" altLang="zh-CN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828800" lvl="3" indent="-457200" defTabSz="914400">
              <a:buFont typeface="Arial" panose="020B0604020202020204" pitchFamily="34" charset="0"/>
              <a:buChar char="•"/>
              <a:defRPr/>
            </a:pPr>
            <a:r>
              <a:rPr lang="zh-CN" altLang="en-US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任务按照 提交时间 排序</a:t>
            </a:r>
            <a:endParaRPr lang="en-US" altLang="zh-CN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371600" lvl="2" indent="-457200" defTabSz="914400">
              <a:buFont typeface="Arial" panose="020B0604020202020204" pitchFamily="34" charset="0"/>
              <a:buChar char="•"/>
              <a:defRPr/>
            </a:pPr>
            <a:r>
              <a:rPr lang="zh-CN" altLang="en-US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进入任务详情界面</a:t>
            </a:r>
            <a:endParaRPr lang="en-US" altLang="zh-CN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371600" lvl="2" indent="-457200" defTabSz="914400">
              <a:buFont typeface="Arial" panose="020B0604020202020204" pitchFamily="34" charset="0"/>
              <a:buChar char="•"/>
              <a:defRPr/>
            </a:pPr>
            <a:r>
              <a:rPr lang="zh-CN" altLang="en-US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删除任务</a:t>
            </a:r>
            <a:endParaRPr lang="en-US" altLang="zh-CN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lvl="2" defTabSz="914400">
              <a:defRPr/>
            </a:pPr>
            <a:endParaRPr lang="en-US" altLang="zh-CN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400" kern="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任务创造</a:t>
            </a:r>
            <a:endParaRPr kumimoji="0" lang="en-US" altLang="zh-CN" sz="2400" i="0" u="none" strike="noStrike" kern="0" cap="none" spc="0" normalizeH="0" baseline="0" noProof="0" dirty="0">
              <a:ln>
                <a:solidFill>
                  <a:schemeClr val="tx1"/>
                </a:solidFill>
              </a:ln>
              <a:solidFill>
                <a:schemeClr val="bg1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457200" defTabSz="914400">
              <a:buFont typeface="Arial" panose="020B0604020202020204" pitchFamily="34" charset="0"/>
              <a:buChar char="•"/>
              <a:defRPr/>
            </a:pPr>
            <a:r>
              <a:rPr lang="zh-CN" altLang="en-US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用户需要输入</a:t>
            </a:r>
            <a:endParaRPr lang="en-US" altLang="zh-CN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371600" lvl="2" indent="-457200" defTabSz="914400">
              <a:buFont typeface="Arial" panose="020B0604020202020204" pitchFamily="34" charset="0"/>
              <a:buChar char="•"/>
              <a:defRPr/>
            </a:pPr>
            <a:r>
              <a:rPr lang="zh-CN" altLang="en-US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任务名称、任务描述</a:t>
            </a:r>
            <a:endParaRPr lang="en-US" altLang="zh-CN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371600" lvl="2" indent="-457200" defTabSz="914400">
              <a:buFont typeface="Arial" panose="020B0604020202020204" pitchFamily="34" charset="0"/>
              <a:buChar char="•"/>
              <a:defRPr/>
            </a:pPr>
            <a:r>
              <a:rPr lang="zh-CN" altLang="en-US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选择投入材料 并 输入材料投入份数</a:t>
            </a:r>
            <a:endParaRPr lang="en-US" altLang="zh-CN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371600" lvl="2" indent="-457200" defTabSz="914400">
              <a:buFont typeface="Arial" panose="020B0604020202020204" pitchFamily="34" charset="0"/>
              <a:buChar char="•"/>
              <a:defRPr/>
            </a:pPr>
            <a:r>
              <a:rPr lang="zh-CN" altLang="en-US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反应温度</a:t>
            </a:r>
            <a:endParaRPr lang="en-US" altLang="zh-CN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457200" defTabSz="914400">
              <a:buFont typeface="Arial" panose="020B0604020202020204" pitchFamily="34" charset="0"/>
              <a:buChar char="•"/>
              <a:defRPr/>
            </a:pPr>
            <a:endParaRPr lang="en-US" altLang="zh-CN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400" kern="0" dirty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任务详情</a:t>
            </a:r>
            <a:endParaRPr kumimoji="0" lang="en-US" altLang="zh-CN" sz="2400" i="0" u="none" strike="noStrike" kern="0" cap="none" spc="0" normalizeH="0" baseline="0" noProof="0" dirty="0">
              <a:ln>
                <a:solidFill>
                  <a:schemeClr val="tx1"/>
                </a:solidFill>
              </a:ln>
              <a:solidFill>
                <a:schemeClr val="bg1"/>
              </a:solidFill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457200" defTabSz="914400">
              <a:buFont typeface="Arial" panose="020B0604020202020204" pitchFamily="34" charset="0"/>
              <a:buChar char="•"/>
              <a:defRPr/>
            </a:pPr>
            <a:r>
              <a:rPr lang="zh-CN" altLang="en-US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用户提交任务后自动跳转入本界面，后续可通过任务列表中对应任务的 查看 按钮进入</a:t>
            </a:r>
            <a:endParaRPr lang="en-US" altLang="zh-CN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457200" defTabSz="914400">
              <a:buFont typeface="Arial" panose="020B0604020202020204" pitchFamily="34" charset="0"/>
              <a:buChar char="•"/>
              <a:defRPr/>
            </a:pPr>
            <a:r>
              <a:rPr lang="zh-CN" altLang="en-US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用户在任务状态显示 已完成后可查看“反应物生成物官能团随反应时间变化” 图像与 “反应生成分子链分布情况”图像，分子链分布与组成表格。</a:t>
            </a:r>
            <a:endParaRPr lang="en-US" altLang="zh-CN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F41D1-9A21-C64E-9092-8597E79066FF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569017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F41D1-9A21-C64E-9092-8597E79066FF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375362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4F41D1-9A21-C64E-9092-8597E79066FF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92254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557783"/>
            <a:ext cx="10969752" cy="313080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8" y="3902206"/>
            <a:ext cx="10969752" cy="2240529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5A860-F335-4252-AA00-24FB67ED2982}" type="datetime1">
              <a:rPr lang="en-US" smtClean="0"/>
              <a:t>7/8/24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4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C802-30E3-4658-9CCA-F873646FEC67}" type="datetime1">
              <a:rPr lang="en-US" smtClean="0"/>
              <a:t>7/8/24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706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57784"/>
            <a:ext cx="10969752" cy="3146400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8" y="3902207"/>
            <a:ext cx="10969752" cy="2187443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B227A3-19CE-4153-81CE-64EB7AB094B3}" type="datetime1">
              <a:rPr lang="en-US" smtClean="0"/>
              <a:t>7/8/24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82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2" y="2081369"/>
            <a:ext cx="5410200" cy="40955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19A100-10F6-477E-8847-29D479EF1C92}" type="datetime1">
              <a:rPr lang="en-US" smtClean="0"/>
              <a:t>7/8/24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238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65125"/>
            <a:ext cx="10745788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895096"/>
            <a:ext cx="5387975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842211"/>
            <a:ext cx="5387975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67890" y="1895096"/>
            <a:ext cx="5414510" cy="823912"/>
          </a:xfrm>
        </p:spPr>
        <p:txBody>
          <a:bodyPr anchor="b"/>
          <a:lstStyle>
            <a:lvl1pPr marL="0" indent="0">
              <a:buNone/>
              <a:defRPr sz="2400" b="0" i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67890" y="2842211"/>
            <a:ext cx="5414510" cy="3347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128AB-198A-495F-8475-FDB360C9873F}" type="datetime1">
              <a:rPr lang="en-US" smtClean="0"/>
              <a:t>7/8/24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927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A235E-F8FD-479F-9FC7-18BE84110877}" type="datetime1">
              <a:rPr lang="en-US" smtClean="0"/>
              <a:t>7/8/24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056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0F09B-68DA-462E-9DB4-4C9ADAB8CBCC}" type="datetime1">
              <a:rPr lang="en-US" smtClean="0"/>
              <a:t>7/8/24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541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020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57200"/>
            <a:ext cx="5483352" cy="574400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9989"/>
            <a:ext cx="4970822" cy="2871216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AC4E36-FABE-47EB-AA7F-C19A93824617}" type="datetime1">
              <a:rPr lang="en-US" smtClean="0"/>
              <a:t>7/8/24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851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457199"/>
            <a:ext cx="4970822" cy="266748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457199"/>
            <a:ext cx="5483352" cy="540385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9" y="3322708"/>
            <a:ext cx="4970822" cy="254628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99CE6B-5DE6-4A2D-B72E-5E8969F9F56F}" type="datetime1">
              <a:rPr lang="en-US" smtClean="0"/>
              <a:t>7/8/24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992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B1048-0047-48CA-88BA-D69B470942CF}" type="datetime1">
              <a:rPr lang="en-US" smtClean="0"/>
              <a:t>7/8/24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360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557784"/>
            <a:ext cx="2854452" cy="56434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557784"/>
            <a:ext cx="7734300" cy="56434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83879-648C-49A9-81A2-0EF5946532D0}" type="datetime1">
              <a:rPr lang="en-US" smtClean="0"/>
              <a:t>7/8/24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945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2E603F-28B7-4831-BF23-65FBAB13D5FB}"/>
              </a:ext>
            </a:extLst>
          </p:cNvPr>
          <p:cNvSpPr/>
          <p:nvPr/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D39700F-2B10-4402-A7DD-06EE22458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232968"/>
            <a:ext cx="9560477" cy="6625032"/>
          </a:xfrm>
          <a:custGeom>
            <a:avLst/>
            <a:gdLst>
              <a:gd name="connsiteX0" fmla="*/ 8831314 w 9263816"/>
              <a:gd name="connsiteY0" fmla="*/ 5943878 h 6858000"/>
              <a:gd name="connsiteX1" fmla="*/ 9179783 w 9263816"/>
              <a:gd name="connsiteY1" fmla="*/ 6086141 h 6858000"/>
              <a:gd name="connsiteX2" fmla="*/ 9260887 w 9263816"/>
              <a:gd name="connsiteY2" fmla="*/ 6279156 h 6858000"/>
              <a:gd name="connsiteX3" fmla="*/ 8925621 w 9263816"/>
              <a:gd name="connsiteY3" fmla="*/ 6708712 h 6858000"/>
              <a:gd name="connsiteX4" fmla="*/ 8496050 w 9263816"/>
              <a:gd name="connsiteY4" fmla="*/ 6373449 h 6858000"/>
              <a:gd name="connsiteX5" fmla="*/ 8831314 w 9263816"/>
              <a:gd name="connsiteY5" fmla="*/ 5943878 h 6858000"/>
              <a:gd name="connsiteX6" fmla="*/ 7397485 w 9263816"/>
              <a:gd name="connsiteY6" fmla="*/ 5931706 h 6858000"/>
              <a:gd name="connsiteX7" fmla="*/ 7917779 w 9263816"/>
              <a:gd name="connsiteY7" fmla="*/ 6191864 h 6858000"/>
              <a:gd name="connsiteX8" fmla="*/ 8013467 w 9263816"/>
              <a:gd name="connsiteY8" fmla="*/ 6375784 h 6858000"/>
              <a:gd name="connsiteX9" fmla="*/ 8021879 w 9263816"/>
              <a:gd name="connsiteY9" fmla="*/ 6753751 h 6858000"/>
              <a:gd name="connsiteX10" fmla="*/ 7981316 w 9263816"/>
              <a:gd name="connsiteY10" fmla="*/ 6858000 h 6858000"/>
              <a:gd name="connsiteX11" fmla="*/ 6819486 w 9263816"/>
              <a:gd name="connsiteY11" fmla="*/ 6858000 h 6858000"/>
              <a:gd name="connsiteX12" fmla="*/ 6785199 w 9263816"/>
              <a:gd name="connsiteY12" fmla="*/ 6781101 h 6858000"/>
              <a:gd name="connsiteX13" fmla="*/ 7196747 w 9263816"/>
              <a:gd name="connsiteY13" fmla="*/ 5964309 h 6858000"/>
              <a:gd name="connsiteX14" fmla="*/ 7397485 w 9263816"/>
              <a:gd name="connsiteY14" fmla="*/ 5931706 h 6858000"/>
              <a:gd name="connsiteX15" fmla="*/ 1505570 w 9263816"/>
              <a:gd name="connsiteY15" fmla="*/ 227178 h 6858000"/>
              <a:gd name="connsiteX16" fmla="*/ 2026489 w 9263816"/>
              <a:gd name="connsiteY16" fmla="*/ 392370 h 6858000"/>
              <a:gd name="connsiteX17" fmla="*/ 2444553 w 9263816"/>
              <a:gd name="connsiteY17" fmla="*/ 1654853 h 6858000"/>
              <a:gd name="connsiteX18" fmla="*/ 3183153 w 9263816"/>
              <a:gd name="connsiteY18" fmla="*/ 2116208 h 6858000"/>
              <a:gd name="connsiteX19" fmla="*/ 4288384 w 9263816"/>
              <a:gd name="connsiteY19" fmla="*/ 1291908 h 6858000"/>
              <a:gd name="connsiteX20" fmla="*/ 5472602 w 9263816"/>
              <a:gd name="connsiteY20" fmla="*/ 1697818 h 6858000"/>
              <a:gd name="connsiteX21" fmla="*/ 5844697 w 9263816"/>
              <a:gd name="connsiteY21" fmla="*/ 3444791 h 6858000"/>
              <a:gd name="connsiteX22" fmla="*/ 6715674 w 9263816"/>
              <a:gd name="connsiteY22" fmla="*/ 4065208 h 6858000"/>
              <a:gd name="connsiteX23" fmla="*/ 8130429 w 9263816"/>
              <a:gd name="connsiteY23" fmla="*/ 4101787 h 6858000"/>
              <a:gd name="connsiteX24" fmla="*/ 8624630 w 9263816"/>
              <a:gd name="connsiteY24" fmla="*/ 4686202 h 6858000"/>
              <a:gd name="connsiteX25" fmla="*/ 8623843 w 9263816"/>
              <a:gd name="connsiteY25" fmla="*/ 4685749 h 6858000"/>
              <a:gd name="connsiteX26" fmla="*/ 8646859 w 9263816"/>
              <a:gd name="connsiteY26" fmla="*/ 4835156 h 6858000"/>
              <a:gd name="connsiteX27" fmla="*/ 8079403 w 9263816"/>
              <a:gd name="connsiteY27" fmla="*/ 5661624 h 6858000"/>
              <a:gd name="connsiteX28" fmla="*/ 6833105 w 9263816"/>
              <a:gd name="connsiteY28" fmla="*/ 5397208 h 6858000"/>
              <a:gd name="connsiteX29" fmla="*/ 5900832 w 9263816"/>
              <a:gd name="connsiteY29" fmla="*/ 5944462 h 6858000"/>
              <a:gd name="connsiteX30" fmla="*/ 6067212 w 9263816"/>
              <a:gd name="connsiteY30" fmla="*/ 6811916 h 6858000"/>
              <a:gd name="connsiteX31" fmla="*/ 6089565 w 9263816"/>
              <a:gd name="connsiteY31" fmla="*/ 6858000 h 6858000"/>
              <a:gd name="connsiteX32" fmla="*/ 0 w 9263816"/>
              <a:gd name="connsiteY32" fmla="*/ 6858000 h 6858000"/>
              <a:gd name="connsiteX33" fmla="*/ 0 w 9263816"/>
              <a:gd name="connsiteY33" fmla="*/ 2181377 h 6858000"/>
              <a:gd name="connsiteX34" fmla="*/ 73069 w 9263816"/>
              <a:gd name="connsiteY34" fmla="*/ 2215839 h 6858000"/>
              <a:gd name="connsiteX35" fmla="*/ 335445 w 9263816"/>
              <a:gd name="connsiteY35" fmla="*/ 2237140 h 6858000"/>
              <a:gd name="connsiteX36" fmla="*/ 752878 w 9263816"/>
              <a:gd name="connsiteY36" fmla="*/ 1445285 h 6858000"/>
              <a:gd name="connsiteX37" fmla="*/ 1202551 w 9263816"/>
              <a:gd name="connsiteY37" fmla="*/ 314229 h 6858000"/>
              <a:gd name="connsiteX38" fmla="*/ 1505570 w 9263816"/>
              <a:gd name="connsiteY38" fmla="*/ 227178 h 6858000"/>
              <a:gd name="connsiteX39" fmla="*/ 3142509 w 9263816"/>
              <a:gd name="connsiteY39" fmla="*/ 68854 h 6858000"/>
              <a:gd name="connsiteX40" fmla="*/ 3490978 w 9263816"/>
              <a:gd name="connsiteY40" fmla="*/ 211117 h 6858000"/>
              <a:gd name="connsiteX41" fmla="*/ 3572083 w 9263816"/>
              <a:gd name="connsiteY41" fmla="*/ 404131 h 6858000"/>
              <a:gd name="connsiteX42" fmla="*/ 3236814 w 9263816"/>
              <a:gd name="connsiteY42" fmla="*/ 833688 h 6858000"/>
              <a:gd name="connsiteX43" fmla="*/ 2807245 w 9263816"/>
              <a:gd name="connsiteY43" fmla="*/ 498425 h 6858000"/>
              <a:gd name="connsiteX44" fmla="*/ 3142509 w 9263816"/>
              <a:gd name="connsiteY44" fmla="*/ 68854 h 6858000"/>
              <a:gd name="connsiteX45" fmla="*/ 0 w 9263816"/>
              <a:gd name="connsiteY45" fmla="*/ 0 h 6858000"/>
              <a:gd name="connsiteX46" fmla="*/ 39858 w 9263816"/>
              <a:gd name="connsiteY46" fmla="*/ 0 h 6858000"/>
              <a:gd name="connsiteX47" fmla="*/ 65022 w 9263816"/>
              <a:gd name="connsiteY47" fmla="*/ 5834 h 6858000"/>
              <a:gd name="connsiteX48" fmla="*/ 389258 w 9263816"/>
              <a:gd name="connsiteY48" fmla="*/ 235630 h 6858000"/>
              <a:gd name="connsiteX49" fmla="*/ 485484 w 9263816"/>
              <a:gd name="connsiteY49" fmla="*/ 420070 h 6858000"/>
              <a:gd name="connsiteX50" fmla="*/ 74229 w 9263816"/>
              <a:gd name="connsiteY50" fmla="*/ 1237955 h 6858000"/>
              <a:gd name="connsiteX51" fmla="*/ 0 w 9263816"/>
              <a:gd name="connsiteY51" fmla="*/ 125447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9263816" h="6858000">
                <a:moveTo>
                  <a:pt x="8831314" y="5943878"/>
                </a:moveTo>
                <a:cubicBezTo>
                  <a:pt x="8964281" y="5927490"/>
                  <a:pt x="9096260" y="5981362"/>
                  <a:pt x="9179783" y="6086141"/>
                </a:cubicBezTo>
                <a:cubicBezTo>
                  <a:pt x="9224074" y="6141769"/>
                  <a:pt x="9252211" y="6208560"/>
                  <a:pt x="9260887" y="6279156"/>
                </a:cubicBezTo>
                <a:cubicBezTo>
                  <a:pt x="9286897" y="6490362"/>
                  <a:pt x="9136845" y="6682672"/>
                  <a:pt x="8925621" y="6708712"/>
                </a:cubicBezTo>
                <a:cubicBezTo>
                  <a:pt x="8714398" y="6734766"/>
                  <a:pt x="8522062" y="6584655"/>
                  <a:pt x="8496050" y="6373449"/>
                </a:cubicBezTo>
                <a:cubicBezTo>
                  <a:pt x="8470038" y="6162229"/>
                  <a:pt x="8620090" y="5969920"/>
                  <a:pt x="8831314" y="5943878"/>
                </a:cubicBezTo>
                <a:close/>
                <a:moveTo>
                  <a:pt x="7397485" y="5931706"/>
                </a:moveTo>
                <a:cubicBezTo>
                  <a:pt x="7598431" y="5931157"/>
                  <a:pt x="7792965" y="6024548"/>
                  <a:pt x="7917779" y="6191864"/>
                </a:cubicBezTo>
                <a:cubicBezTo>
                  <a:pt x="7959204" y="6247714"/>
                  <a:pt x="7991530" y="6309792"/>
                  <a:pt x="8013467" y="6375784"/>
                </a:cubicBezTo>
                <a:cubicBezTo>
                  <a:pt x="8055425" y="6502973"/>
                  <a:pt x="8055748" y="6633888"/>
                  <a:pt x="8021879" y="6753751"/>
                </a:cubicBezTo>
                <a:lnTo>
                  <a:pt x="7981316" y="6858000"/>
                </a:lnTo>
                <a:lnTo>
                  <a:pt x="6819486" y="6858000"/>
                </a:lnTo>
                <a:lnTo>
                  <a:pt x="6785199" y="6781101"/>
                </a:lnTo>
                <a:cubicBezTo>
                  <a:pt x="6673307" y="6441922"/>
                  <a:pt x="6857485" y="6076251"/>
                  <a:pt x="7196747" y="5964309"/>
                </a:cubicBezTo>
                <a:cubicBezTo>
                  <a:pt x="7262809" y="5942509"/>
                  <a:pt x="7330503" y="5931889"/>
                  <a:pt x="7397485" y="5931706"/>
                </a:cubicBezTo>
                <a:close/>
                <a:moveTo>
                  <a:pt x="1505570" y="227178"/>
                </a:moveTo>
                <a:cubicBezTo>
                  <a:pt x="1691018" y="218628"/>
                  <a:pt x="1889853" y="275403"/>
                  <a:pt x="2026489" y="392370"/>
                </a:cubicBezTo>
                <a:cubicBezTo>
                  <a:pt x="2369898" y="685965"/>
                  <a:pt x="2078266" y="1147857"/>
                  <a:pt x="2444553" y="1654853"/>
                </a:cubicBezTo>
                <a:cubicBezTo>
                  <a:pt x="2492906" y="1721679"/>
                  <a:pt x="2800482" y="2144546"/>
                  <a:pt x="3183153" y="2116208"/>
                </a:cubicBezTo>
                <a:cubicBezTo>
                  <a:pt x="3673561" y="2080541"/>
                  <a:pt x="3723222" y="1441614"/>
                  <a:pt x="4288384" y="1291908"/>
                </a:cubicBezTo>
                <a:cubicBezTo>
                  <a:pt x="4689065" y="1185875"/>
                  <a:pt x="5207943" y="1366633"/>
                  <a:pt x="5472602" y="1697818"/>
                </a:cubicBezTo>
                <a:cubicBezTo>
                  <a:pt x="5891294" y="2221754"/>
                  <a:pt x="5408012" y="2790179"/>
                  <a:pt x="5844697" y="3444791"/>
                </a:cubicBezTo>
                <a:cubicBezTo>
                  <a:pt x="6149900" y="3902467"/>
                  <a:pt x="6672672" y="4053594"/>
                  <a:pt x="6715674" y="4065208"/>
                </a:cubicBezTo>
                <a:cubicBezTo>
                  <a:pt x="7326423" y="4232519"/>
                  <a:pt x="7677158" y="3817020"/>
                  <a:pt x="8130429" y="4101787"/>
                </a:cubicBezTo>
                <a:cubicBezTo>
                  <a:pt x="8226340" y="4161985"/>
                  <a:pt x="8536372" y="4356819"/>
                  <a:pt x="8624630" y="4686202"/>
                </a:cubicBezTo>
                <a:lnTo>
                  <a:pt x="8623843" y="4685749"/>
                </a:lnTo>
                <a:cubicBezTo>
                  <a:pt x="8636924" y="4734567"/>
                  <a:pt x="8644635" y="4784678"/>
                  <a:pt x="8646859" y="4835156"/>
                </a:cubicBezTo>
                <a:cubicBezTo>
                  <a:pt x="8662596" y="5196604"/>
                  <a:pt x="8398383" y="5562326"/>
                  <a:pt x="8079403" y="5661624"/>
                </a:cubicBezTo>
                <a:cubicBezTo>
                  <a:pt x="7649807" y="5795217"/>
                  <a:pt x="7430996" y="5350293"/>
                  <a:pt x="6833105" y="5397208"/>
                </a:cubicBezTo>
                <a:cubicBezTo>
                  <a:pt x="6519033" y="5421527"/>
                  <a:pt x="6056658" y="5595550"/>
                  <a:pt x="5900832" y="5944462"/>
                </a:cubicBezTo>
                <a:cubicBezTo>
                  <a:pt x="5770548" y="6236600"/>
                  <a:pt x="5916359" y="6515160"/>
                  <a:pt x="6067212" y="6811916"/>
                </a:cubicBezTo>
                <a:lnTo>
                  <a:pt x="6089565" y="6858000"/>
                </a:lnTo>
                <a:lnTo>
                  <a:pt x="0" y="6858000"/>
                </a:lnTo>
                <a:lnTo>
                  <a:pt x="0" y="2181377"/>
                </a:lnTo>
                <a:lnTo>
                  <a:pt x="73069" y="2215839"/>
                </a:lnTo>
                <a:cubicBezTo>
                  <a:pt x="165116" y="2251829"/>
                  <a:pt x="254486" y="2263171"/>
                  <a:pt x="335445" y="2237140"/>
                </a:cubicBezTo>
                <a:cubicBezTo>
                  <a:pt x="594718" y="2153707"/>
                  <a:pt x="688441" y="1733807"/>
                  <a:pt x="752878" y="1445285"/>
                </a:cubicBezTo>
                <a:cubicBezTo>
                  <a:pt x="925059" y="674068"/>
                  <a:pt x="975076" y="456292"/>
                  <a:pt x="1202551" y="314229"/>
                </a:cubicBezTo>
                <a:cubicBezTo>
                  <a:pt x="1287853" y="260956"/>
                  <a:pt x="1394302" y="232308"/>
                  <a:pt x="1505570" y="227178"/>
                </a:cubicBezTo>
                <a:close/>
                <a:moveTo>
                  <a:pt x="3142509" y="68854"/>
                </a:moveTo>
                <a:cubicBezTo>
                  <a:pt x="3275474" y="52467"/>
                  <a:pt x="3407455" y="106339"/>
                  <a:pt x="3490978" y="211117"/>
                </a:cubicBezTo>
                <a:cubicBezTo>
                  <a:pt x="3535271" y="266744"/>
                  <a:pt x="3563404" y="333535"/>
                  <a:pt x="3572083" y="404131"/>
                </a:cubicBezTo>
                <a:cubicBezTo>
                  <a:pt x="3598092" y="615337"/>
                  <a:pt x="3448040" y="807648"/>
                  <a:pt x="3236814" y="833688"/>
                </a:cubicBezTo>
                <a:cubicBezTo>
                  <a:pt x="3025594" y="859741"/>
                  <a:pt x="2833255" y="709631"/>
                  <a:pt x="2807245" y="498425"/>
                </a:cubicBezTo>
                <a:cubicBezTo>
                  <a:pt x="2781232" y="287207"/>
                  <a:pt x="2931283" y="94896"/>
                  <a:pt x="3142509" y="68854"/>
                </a:cubicBezTo>
                <a:close/>
                <a:moveTo>
                  <a:pt x="0" y="0"/>
                </a:moveTo>
                <a:lnTo>
                  <a:pt x="39858" y="0"/>
                </a:lnTo>
                <a:lnTo>
                  <a:pt x="65022" y="5834"/>
                </a:lnTo>
                <a:cubicBezTo>
                  <a:pt x="191545" y="45606"/>
                  <a:pt x="305874" y="124173"/>
                  <a:pt x="389258" y="235630"/>
                </a:cubicBezTo>
                <a:cubicBezTo>
                  <a:pt x="430983" y="291600"/>
                  <a:pt x="463360" y="353876"/>
                  <a:pt x="485484" y="420070"/>
                </a:cubicBezTo>
                <a:cubicBezTo>
                  <a:pt x="597711" y="759508"/>
                  <a:pt x="413661" y="1125662"/>
                  <a:pt x="74229" y="1237955"/>
                </a:cubicBezTo>
                <a:lnTo>
                  <a:pt x="0" y="1254477"/>
                </a:lnTo>
                <a:close/>
              </a:path>
            </a:pathLst>
          </a:custGeom>
          <a:solidFill>
            <a:schemeClr val="bg1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57784"/>
            <a:ext cx="109728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06204"/>
            <a:ext cx="10972800" cy="4036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F481A142-DA77-4A5F-AD1F-14E6C18F0F5F}" type="datetime1">
              <a:rPr lang="en-US" smtClean="0"/>
              <a:t>7/8/24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800" kern="1200" cap="all" spc="200" dirty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346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294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0" r:id="rId1"/>
    <p:sldLayoutId id="2147484051" r:id="rId2"/>
    <p:sldLayoutId id="2147484052" r:id="rId3"/>
    <p:sldLayoutId id="2147484053" r:id="rId4"/>
    <p:sldLayoutId id="2147484054" r:id="rId5"/>
    <p:sldLayoutId id="2147484060" r:id="rId6"/>
    <p:sldLayoutId id="2147484055" r:id="rId7"/>
    <p:sldLayoutId id="2147484056" r:id="rId8"/>
    <p:sldLayoutId id="2147484057" r:id="rId9"/>
    <p:sldLayoutId id="2147484059" r:id="rId10"/>
    <p:sldLayoutId id="2147484058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7.xml"/><Relationship Id="rId7" Type="http://schemas.openxmlformats.org/officeDocument/2006/relationships/image" Target="../media/image2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customXml" Target="../ink/ink2.xml"/><Relationship Id="rId5" Type="http://schemas.openxmlformats.org/officeDocument/2006/relationships/image" Target="../media/image3.png"/><Relationship Id="rId10" Type="http://schemas.openxmlformats.org/officeDocument/2006/relationships/image" Target="../media/image5.png"/><Relationship Id="rId4" Type="http://schemas.openxmlformats.org/officeDocument/2006/relationships/notesSlide" Target="../notesSlides/notesSlide3.xml"/><Relationship Id="rId9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8.png"/><Relationship Id="rId10" Type="http://schemas.openxmlformats.org/officeDocument/2006/relationships/image" Target="../media/image12.png"/><Relationship Id="rId4" Type="http://schemas.openxmlformats.org/officeDocument/2006/relationships/image" Target="../media/image7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14.png"/><Relationship Id="rId10" Type="http://schemas.openxmlformats.org/officeDocument/2006/relationships/image" Target="../media/image13.png"/><Relationship Id="rId9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16.png"/><Relationship Id="rId10" Type="http://schemas.openxmlformats.org/officeDocument/2006/relationships/image" Target="../media/image15.png"/><Relationship Id="rId9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.png"/><Relationship Id="rId3" Type="http://schemas.openxmlformats.org/officeDocument/2006/relationships/customXml" Target="../ink/ink6.xml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18.png"/><Relationship Id="rId10" Type="http://schemas.openxmlformats.org/officeDocument/2006/relationships/image" Target="../media/image17.png"/><Relationship Id="rId9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22.png"/><Relationship Id="rId10" Type="http://schemas.openxmlformats.org/officeDocument/2006/relationships/image" Target="../media/image21.png"/><Relationship Id="rId9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customXml" Target="../ink/ink8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customXml" Target="../ink/ink9.xml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microsoft.com/office/2007/relationships/hdphoto" Target="../media/hdphoto3.wdp"/><Relationship Id="rId11" Type="http://schemas.openxmlformats.org/officeDocument/2006/relationships/image" Target="../media/image27.png"/><Relationship Id="rId5" Type="http://schemas.openxmlformats.org/officeDocument/2006/relationships/image" Target="../media/image24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Background Fill">
            <a:extLst>
              <a:ext uri="{FF2B5EF4-FFF2-40B4-BE49-F238E27FC236}">
                <a16:creationId xmlns:a16="http://schemas.microsoft.com/office/drawing/2014/main" id="{6DA65B90-7B06-4499-91BA-CDDD36132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3B492FA-F7E7-4C37-A395-EC3426FA8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solidFill>
            <a:srgbClr val="AEAEAE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C1D41860-C334-4AEF-B2BB-71CB98CC8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717301"/>
          </a:xfrm>
          <a:custGeom>
            <a:avLst/>
            <a:gdLst>
              <a:gd name="connsiteX0" fmla="*/ 8930642 w 12192000"/>
              <a:gd name="connsiteY0" fmla="*/ 4273734 h 4717301"/>
              <a:gd name="connsiteX1" fmla="*/ 9143134 w 12192000"/>
              <a:gd name="connsiteY1" fmla="*/ 4396362 h 4717301"/>
              <a:gd name="connsiteX2" fmla="*/ 9043549 w 12192000"/>
              <a:gd name="connsiteY2" fmla="*/ 4693978 h 4717301"/>
              <a:gd name="connsiteX3" fmla="*/ 8745984 w 12192000"/>
              <a:gd name="connsiteY3" fmla="*/ 4594249 h 4717301"/>
              <a:gd name="connsiteX4" fmla="*/ 8845568 w 12192000"/>
              <a:gd name="connsiteY4" fmla="*/ 4296634 h 4717301"/>
              <a:gd name="connsiteX5" fmla="*/ 8930642 w 12192000"/>
              <a:gd name="connsiteY5" fmla="*/ 4273734 h 4717301"/>
              <a:gd name="connsiteX6" fmla="*/ 9842642 w 12192000"/>
              <a:gd name="connsiteY6" fmla="*/ 3718743 h 4717301"/>
              <a:gd name="connsiteX7" fmla="*/ 10272210 w 12192000"/>
              <a:gd name="connsiteY7" fmla="*/ 3966645 h 4717301"/>
              <a:gd name="connsiteX8" fmla="*/ 10070896 w 12192000"/>
              <a:gd name="connsiteY8" fmla="*/ 4568292 h 4717301"/>
              <a:gd name="connsiteX9" fmla="*/ 9469346 w 12192000"/>
              <a:gd name="connsiteY9" fmla="*/ 4366686 h 4717301"/>
              <a:gd name="connsiteX10" fmla="*/ 9670660 w 12192000"/>
              <a:gd name="connsiteY10" fmla="*/ 3765038 h 4717301"/>
              <a:gd name="connsiteX11" fmla="*/ 9842642 w 12192000"/>
              <a:gd name="connsiteY11" fmla="*/ 3718743 h 4717301"/>
              <a:gd name="connsiteX12" fmla="*/ 0 w 12192000"/>
              <a:gd name="connsiteY12" fmla="*/ 0 h 4717301"/>
              <a:gd name="connsiteX13" fmla="*/ 12192000 w 12192000"/>
              <a:gd name="connsiteY13" fmla="*/ 0 h 4717301"/>
              <a:gd name="connsiteX14" fmla="*/ 12192000 w 12192000"/>
              <a:gd name="connsiteY14" fmla="*/ 3369891 h 4717301"/>
              <a:gd name="connsiteX15" fmla="*/ 12124015 w 12192000"/>
              <a:gd name="connsiteY15" fmla="*/ 3410713 h 4717301"/>
              <a:gd name="connsiteX16" fmla="*/ 11077457 w 12192000"/>
              <a:gd name="connsiteY16" fmla="*/ 3501725 h 4717301"/>
              <a:gd name="connsiteX17" fmla="*/ 9867246 w 12192000"/>
              <a:gd name="connsiteY17" fmla="*/ 3351592 h 4717301"/>
              <a:gd name="connsiteX18" fmla="*/ 8994802 w 12192000"/>
              <a:gd name="connsiteY18" fmla="*/ 3878378 h 4717301"/>
              <a:gd name="connsiteX19" fmla="*/ 6994655 w 12192000"/>
              <a:gd name="connsiteY19" fmla="*/ 4335637 h 4717301"/>
              <a:gd name="connsiteX20" fmla="*/ 6287534 w 12192000"/>
              <a:gd name="connsiteY20" fmla="*/ 3714199 h 4717301"/>
              <a:gd name="connsiteX21" fmla="*/ 4392596 w 12192000"/>
              <a:gd name="connsiteY21" fmla="*/ 3392344 h 4717301"/>
              <a:gd name="connsiteX22" fmla="*/ 3014500 w 12192000"/>
              <a:gd name="connsiteY22" fmla="*/ 4100222 h 4717301"/>
              <a:gd name="connsiteX23" fmla="*/ 86414 w 12192000"/>
              <a:gd name="connsiteY23" fmla="*/ 3903305 h 4717301"/>
              <a:gd name="connsiteX24" fmla="*/ 0 w 12192000"/>
              <a:gd name="connsiteY24" fmla="*/ 3840566 h 4717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12192000" h="4717301">
                <a:moveTo>
                  <a:pt x="8930642" y="4273734"/>
                </a:moveTo>
                <a:cubicBezTo>
                  <a:pt x="9016941" y="4268381"/>
                  <a:pt x="9102130" y="4314070"/>
                  <a:pt x="9143134" y="4396362"/>
                </a:cubicBezTo>
                <a:cubicBezTo>
                  <a:pt x="9197806" y="4506087"/>
                  <a:pt x="9153221" y="4639333"/>
                  <a:pt x="9043549" y="4693978"/>
                </a:cubicBezTo>
                <a:cubicBezTo>
                  <a:pt x="8933879" y="4748622"/>
                  <a:pt x="8800655" y="4703973"/>
                  <a:pt x="8745984" y="4594249"/>
                </a:cubicBezTo>
                <a:cubicBezTo>
                  <a:pt x="8691311" y="4484525"/>
                  <a:pt x="8735897" y="4351279"/>
                  <a:pt x="8845568" y="4296634"/>
                </a:cubicBezTo>
                <a:cubicBezTo>
                  <a:pt x="8872986" y="4282973"/>
                  <a:pt x="8901875" y="4275517"/>
                  <a:pt x="8930642" y="4273734"/>
                </a:cubicBezTo>
                <a:close/>
                <a:moveTo>
                  <a:pt x="9842642" y="3718743"/>
                </a:moveTo>
                <a:cubicBezTo>
                  <a:pt x="10017101" y="3707923"/>
                  <a:pt x="10189318" y="3800286"/>
                  <a:pt x="10272210" y="3966645"/>
                </a:cubicBezTo>
                <a:cubicBezTo>
                  <a:pt x="10382732" y="4188458"/>
                  <a:pt x="10292600" y="4457825"/>
                  <a:pt x="10070896" y="4568292"/>
                </a:cubicBezTo>
                <a:cubicBezTo>
                  <a:pt x="9849191" y="4678760"/>
                  <a:pt x="9579867" y="4588498"/>
                  <a:pt x="9469346" y="4366686"/>
                </a:cubicBezTo>
                <a:cubicBezTo>
                  <a:pt x="9358824" y="4144873"/>
                  <a:pt x="9448956" y="3875506"/>
                  <a:pt x="9670660" y="3765038"/>
                </a:cubicBezTo>
                <a:cubicBezTo>
                  <a:pt x="9726087" y="3737421"/>
                  <a:pt x="9784490" y="3722349"/>
                  <a:pt x="9842642" y="371874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3369891"/>
                </a:lnTo>
                <a:lnTo>
                  <a:pt x="12124015" y="3410713"/>
                </a:lnTo>
                <a:cubicBezTo>
                  <a:pt x="11792041" y="3581538"/>
                  <a:pt x="11443617" y="3577252"/>
                  <a:pt x="11077457" y="3501725"/>
                </a:cubicBezTo>
                <a:cubicBezTo>
                  <a:pt x="10679189" y="3419860"/>
                  <a:pt x="10271734" y="3358281"/>
                  <a:pt x="9867246" y="3351592"/>
                </a:cubicBezTo>
                <a:cubicBezTo>
                  <a:pt x="9492336" y="3345611"/>
                  <a:pt x="9239136" y="3626329"/>
                  <a:pt x="8994802" y="3878378"/>
                </a:cubicBezTo>
                <a:cubicBezTo>
                  <a:pt x="8385954" y="4506678"/>
                  <a:pt x="7695268" y="4690742"/>
                  <a:pt x="6994655" y="4335637"/>
                </a:cubicBezTo>
                <a:cubicBezTo>
                  <a:pt x="6722938" y="4197922"/>
                  <a:pt x="6494843" y="3948626"/>
                  <a:pt x="6287534" y="3714199"/>
                </a:cubicBezTo>
                <a:cubicBezTo>
                  <a:pt x="5731733" y="3085491"/>
                  <a:pt x="5043559" y="3067499"/>
                  <a:pt x="4392596" y="3392344"/>
                </a:cubicBezTo>
                <a:cubicBezTo>
                  <a:pt x="3930423" y="3623867"/>
                  <a:pt x="3492022" y="3908604"/>
                  <a:pt x="3014500" y="4100222"/>
                </a:cubicBezTo>
                <a:cubicBezTo>
                  <a:pt x="1977820" y="4518409"/>
                  <a:pt x="973242" y="4499486"/>
                  <a:pt x="86414" y="3903305"/>
                </a:cubicBezTo>
                <a:lnTo>
                  <a:pt x="0" y="384056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标题 8">
            <a:extLst>
              <a:ext uri="{FF2B5EF4-FFF2-40B4-BE49-F238E27FC236}">
                <a16:creationId xmlns:a16="http://schemas.microsoft.com/office/drawing/2014/main" id="{4A849ED2-53DC-AB8C-CCF4-0B2F4858CE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659" y="4572296"/>
            <a:ext cx="7504253" cy="1327947"/>
          </a:xfrm>
        </p:spPr>
        <p:txBody>
          <a:bodyPr anchor="ctr">
            <a:norm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4000" b="1" kern="0" dirty="0"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弹性体材料模型建立与性能模拟</a:t>
            </a:r>
            <a:r>
              <a:rPr lang="en-US" altLang="zh-CN" sz="4000" b="1" kern="0" dirty="0"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-</a:t>
            </a:r>
            <a:r>
              <a:rPr lang="zh-CN" altLang="en-US" sz="4000" b="1" kern="0" dirty="0"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 前端模块</a:t>
            </a:r>
            <a:endParaRPr lang="zh-CN" altLang="en-US" sz="4000" dirty="0">
              <a:effectLst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pic>
        <p:nvPicPr>
          <p:cNvPr id="14" name="图片 13" descr="蓝色的花&#10;&#10;描述已自动生成">
            <a:extLst>
              <a:ext uri="{FF2B5EF4-FFF2-40B4-BE49-F238E27FC236}">
                <a16:creationId xmlns:a16="http://schemas.microsoft.com/office/drawing/2014/main" id="{ED3656A5-918B-9FDC-FC35-EEC10BD3562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982" r="10414" b="3"/>
          <a:stretch/>
        </p:blipFill>
        <p:spPr>
          <a:xfrm rot="16200000">
            <a:off x="4353262" y="-179328"/>
            <a:ext cx="3482427" cy="4467454"/>
          </a:xfrm>
          <a:prstGeom prst="rect">
            <a:avLst/>
          </a:prstGeom>
        </p:spPr>
      </p:pic>
      <p:sp>
        <p:nvSpPr>
          <p:cNvPr id="33" name="标题 8">
            <a:extLst>
              <a:ext uri="{FF2B5EF4-FFF2-40B4-BE49-F238E27FC236}">
                <a16:creationId xmlns:a16="http://schemas.microsoft.com/office/drawing/2014/main" id="{EA341B54-C5CA-EDF2-776F-0834CF8FE13B}"/>
              </a:ext>
            </a:extLst>
          </p:cNvPr>
          <p:cNvSpPr txBox="1">
            <a:spLocks/>
          </p:cNvSpPr>
          <p:nvPr/>
        </p:nvSpPr>
        <p:spPr>
          <a:xfrm>
            <a:off x="9634152" y="5900243"/>
            <a:ext cx="2327189" cy="7692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en-US" altLang="zh-CN" sz="3200" b="1" kern="0" dirty="0"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-</a:t>
            </a:r>
            <a:r>
              <a:rPr lang="zh-CN" altLang="en-US" sz="3200" b="1" kern="0" dirty="0"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董哲显</a:t>
            </a:r>
            <a:endParaRPr lang="zh-CN" altLang="en-US" sz="3200" dirty="0">
              <a:effectLst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70457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FDC2DC07-610F-A1D1-E638-31FBD1DE127E}"/>
                  </a:ext>
                </a:extLst>
              </p14:cNvPr>
              <p14:cNvContentPartPr/>
              <p14:nvPr/>
            </p14:nvContentPartPr>
            <p14:xfrm>
              <a:off x="648341" y="-458465"/>
              <a:ext cx="360" cy="3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FDC2DC07-610F-A1D1-E638-31FBD1DE127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2341" y="-674465"/>
                <a:ext cx="72000" cy="4320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标题 8">
            <a:extLst>
              <a:ext uri="{FF2B5EF4-FFF2-40B4-BE49-F238E27FC236}">
                <a16:creationId xmlns:a16="http://schemas.microsoft.com/office/drawing/2014/main" id="{C47BE5C6-C781-D090-529C-266BE5BEE91E}"/>
              </a:ext>
            </a:extLst>
          </p:cNvPr>
          <p:cNvSpPr txBox="1">
            <a:spLocks/>
          </p:cNvSpPr>
          <p:nvPr/>
        </p:nvSpPr>
        <p:spPr>
          <a:xfrm>
            <a:off x="648341" y="2709406"/>
            <a:ext cx="3925330" cy="318476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  <a:spcBef>
                <a:spcPts val="0"/>
              </a:spcBef>
            </a:pPr>
            <a:r>
              <a:rPr lang="zh-CN" altLang="en-US" sz="8800" b="1" kern="0" dirty="0"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目录：</a:t>
            </a:r>
            <a:endParaRPr lang="zh-CN" altLang="en-US" sz="8800" dirty="0">
              <a:effectLst/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5CC20FB-F6E0-E421-77EF-53BE60796C7B}"/>
              </a:ext>
            </a:extLst>
          </p:cNvPr>
          <p:cNvSpPr txBox="1"/>
          <p:nvPr/>
        </p:nvSpPr>
        <p:spPr>
          <a:xfrm>
            <a:off x="5237226" y="736050"/>
            <a:ext cx="5470468" cy="3854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1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</a:rPr>
              <a:t>、</a:t>
            </a:r>
            <a:r>
              <a:rPr lang="zh-CN" altLang="en-US" sz="3200" b="1" dirty="0">
                <a:latin typeface="KaiTi" panose="02010609060101010101" pitchFamily="49" charset="-122"/>
                <a:ea typeface="KaiTi" panose="02010609060101010101" pitchFamily="49" charset="-122"/>
              </a:rPr>
              <a:t>项目描述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、项目完成情况</a:t>
            </a:r>
            <a:endParaRPr kumimoji="0" lang="en-US" altLang="zh-CN" sz="3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32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32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、项目应用方式</a:t>
            </a:r>
            <a:endParaRPr lang="en-US" altLang="zh-CN" sz="32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、程序</a:t>
            </a:r>
            <a:endParaRPr lang="en-US" altLang="zh-CN" sz="32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1971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8">
            <a:extLst>
              <a:ext uri="{FF2B5EF4-FFF2-40B4-BE49-F238E27FC236}">
                <a16:creationId xmlns:a16="http://schemas.microsoft.com/office/drawing/2014/main" id="{69BCB3F7-BC5C-D0D7-0733-B32366B825B5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2384" y="160785"/>
            <a:ext cx="4965916" cy="4158708"/>
          </a:xfrm>
          <a:prstGeom prst="rect">
            <a:avLst/>
          </a:prstGeom>
          <a:noFill/>
          <a:ln w="9525">
            <a:noFill/>
          </a:ln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6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FDC2DC07-610F-A1D1-E638-31FBD1DE127E}"/>
                  </a:ext>
                </a:extLst>
              </p14:cNvPr>
              <p14:cNvContentPartPr/>
              <p14:nvPr/>
            </p14:nvContentPartPr>
            <p14:xfrm>
              <a:off x="648341" y="-458465"/>
              <a:ext cx="360" cy="3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FDC2DC07-610F-A1D1-E638-31FBD1DE127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12341" y="-674465"/>
                <a:ext cx="72000" cy="4320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标题 23">
            <a:extLst>
              <a:ext uri="{FF2B5EF4-FFF2-40B4-BE49-F238E27FC236}">
                <a16:creationId xmlns:a16="http://schemas.microsoft.com/office/drawing/2014/main" id="{06C2DE2B-C4BB-439E-014F-FD23ACCC1373}"/>
              </a:ext>
            </a:extLst>
          </p:cNvPr>
          <p:cNvSpPr txBox="1"/>
          <p:nvPr/>
        </p:nvSpPr>
        <p:spPr>
          <a:xfrm>
            <a:off x="95534" y="4542643"/>
            <a:ext cx="3937307" cy="16021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KaiTi" panose="02010609060101010101" pitchFamily="49" charset="-122"/>
                <a:ea typeface="KaiTi" panose="02010609060101010101" pitchFamily="49" charset="-122"/>
                <a:cs typeface="微软雅黑" panose="020B0503020204020204" pitchFamily="34" charset="-122"/>
              </a:rPr>
              <a:t>项目背景</a:t>
            </a:r>
            <a:r>
              <a:rPr lang="en-US" altLang="zh-CN" sz="4000" b="1" dirty="0">
                <a:latin typeface="KaiTi" panose="02010609060101010101" pitchFamily="49" charset="-122"/>
                <a:ea typeface="KaiTi" panose="02010609060101010101" pitchFamily="49" charset="-122"/>
                <a:cs typeface="微软雅黑" panose="020B0503020204020204" pitchFamily="34" charset="-122"/>
              </a:rPr>
              <a:t>-</a:t>
            </a:r>
          </a:p>
          <a:p>
            <a:r>
              <a:rPr lang="zh-CN" altLang="en-US" sz="4000" b="1" dirty="0">
                <a:latin typeface="KaiTi" panose="02010609060101010101" pitchFamily="49" charset="-122"/>
                <a:ea typeface="KaiTi" panose="02010609060101010101" pitchFamily="49" charset="-122"/>
                <a:cs typeface="微软雅黑" panose="020B0503020204020204" pitchFamily="34" charset="-122"/>
              </a:rPr>
              <a:t>聚氨酯弹性垫板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9E90140-5ACA-92AA-C23C-D72D0DD2D6FD}"/>
              </a:ext>
            </a:extLst>
          </p:cNvPr>
          <p:cNvSpPr txBox="1"/>
          <p:nvPr/>
        </p:nvSpPr>
        <p:spPr>
          <a:xfrm>
            <a:off x="5063971" y="346416"/>
            <a:ext cx="7128029" cy="27901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聚氨酯弹性垫板 主要用于铁路铁道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截止</a:t>
            </a:r>
            <a:r>
              <a:rPr lang="en-US" altLang="zh-CN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2023</a:t>
            </a:r>
            <a:r>
              <a:rPr lang="zh-CN" altLang="en-US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年底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高速铁路里程已达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4.2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万公里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现今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每年新建高铁工程 对高性能聚氨酯弹性垫层需求量约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900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万片，市场容量</a:t>
            </a: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2.7</a:t>
            </a: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亿元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现有的垫板价格昂贵，且性能衰减问题严重</a:t>
            </a:r>
            <a:endParaRPr lang="en-US" altLang="zh-CN" sz="20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灯片编号占位符 1">
            <a:extLst>
              <a:ext uri="{FF2B5EF4-FFF2-40B4-BE49-F238E27FC236}">
                <a16:creationId xmlns:a16="http://schemas.microsoft.com/office/drawing/2014/main" id="{618E5A8A-2DC0-709F-6409-2B4DA9B24965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lang="en-US" sz="800" kern="1200" cap="all" spc="200" smtClean="0">
                <a:solidFill>
                  <a:schemeClr val="tx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A0DB2DC-4C9A-4742-B13C-FB6460FD3503}" type="slidenum">
              <a:rPr lang="zh-CN" altLang="en-US" smtClean="0"/>
              <a:pPr/>
              <a:t>3</a:t>
            </a:fld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489FEEC-4A5B-7E9B-3C7F-745F1D80EAE4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6268" b="91453" l="5882" r="89542">
                        <a14:foregroundMark x1="50545" y1="6268" x2="28105" y2="91453"/>
                        <a14:foregroundMark x1="9804" y1="48433" x2="83224" y2="68946"/>
                        <a14:foregroundMark x1="14815" y1="81197" x2="89325" y2="62678"/>
                        <a14:foregroundMark x1="89325" y1="62678" x2="86928" y2="50427"/>
                        <a14:foregroundMark x1="85185" y1="46724" x2="84967" y2="84046"/>
                        <a14:foregroundMark x1="88453" y1="49288" x2="89542" y2="81481"/>
                        <a14:foregroundMark x1="85621" y1="44444" x2="69281" y2="52137"/>
                        <a14:foregroundMark x1="69281" y1="52137" x2="23747" y2="50427"/>
                        <a14:foregroundMark x1="23747" y1="50427" x2="10893" y2="59829"/>
                        <a14:foregroundMark x1="10893" y1="59829" x2="10022" y2="79487"/>
                        <a14:foregroundMark x1="10022" y1="79487" x2="24183" y2="87179"/>
                        <a14:foregroundMark x1="24183" y1="87179" x2="53595" y2="78632"/>
                        <a14:foregroundMark x1="53595" y1="78632" x2="83878" y2="81481"/>
                        <a14:foregroundMark x1="83878" y1="81481" x2="85839" y2="80627"/>
                        <a14:foregroundMark x1="84967" y1="88034" x2="50545" y2="84046"/>
                        <a14:foregroundMark x1="43355" y1="90883" x2="12418" y2="88034"/>
                        <a14:foregroundMark x1="12418" y1="88034" x2="8932" y2="67806"/>
                        <a14:foregroundMark x1="8932" y1="67806" x2="11547" y2="48433"/>
                        <a14:foregroundMark x1="11547" y1="48433" x2="23529" y2="37322"/>
                        <a14:foregroundMark x1="37223" y1="33523" x2="37908" y2="33333"/>
                        <a14:foregroundMark x1="32771" y1="34758" x2="33763" y2="34483"/>
                        <a14:foregroundMark x1="23529" y1="37322" x2="32771" y2="34758"/>
                        <a14:foregroundMark x1="37908" y1="33333" x2="38562" y2="33333"/>
                        <a14:foregroundMark x1="33551" y1="65527" x2="22222" y2="65527"/>
                        <a14:foregroundMark x1="35916" y1="36966" x2="23094" y2="72934"/>
                        <a14:foregroundMark x1="37255" y1="36752" x2="37255" y2="36752"/>
                        <a14:foregroundMark x1="13072" y1="38462" x2="11547" y2="56980"/>
                        <a14:foregroundMark x1="5882" y1="56125" x2="7190" y2="81197"/>
                        <a14:backgroundMark x1="34205" y1="34758" x2="34205" y2="34758"/>
                        <a14:backgroundMark x1="33769" y1="34473" x2="36166" y2="35328"/>
                        <a14:backgroundMark x1="36383" y1="35328" x2="36819" y2="34188"/>
                        <a14:backgroundMark x1="37691" y1="36182" x2="37037" y2="3418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50512" y="4217158"/>
            <a:ext cx="3391834" cy="2575875"/>
          </a:xfrm>
          <a:prstGeom prst="rect">
            <a:avLst/>
          </a:prstGeom>
        </p:spPr>
      </p:pic>
      <p:pic>
        <p:nvPicPr>
          <p:cNvPr id="15" name="图片 14" descr="火车停在站台边&#10;&#10;低可信度描述已自动生成">
            <a:extLst>
              <a:ext uri="{FF2B5EF4-FFF2-40B4-BE49-F238E27FC236}">
                <a16:creationId xmlns:a16="http://schemas.microsoft.com/office/drawing/2014/main" id="{1E4991A8-44D8-05B8-45F9-FF7F869739F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16923" y="5062016"/>
            <a:ext cx="3720152" cy="144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646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1EECFD83-4C17-33EC-36A4-7F23C5603E4F}"/>
              </a:ext>
            </a:extLst>
          </p:cNvPr>
          <p:cNvGrpSpPr/>
          <p:nvPr/>
        </p:nvGrpSpPr>
        <p:grpSpPr>
          <a:xfrm>
            <a:off x="3530655" y="3655891"/>
            <a:ext cx="7440365" cy="3200400"/>
            <a:chOff x="3593758" y="3673591"/>
            <a:chExt cx="7440365" cy="3202109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311AC74E-0495-0803-D54E-46FCAB490956}"/>
                </a:ext>
              </a:extLst>
            </p:cNvPr>
            <p:cNvGrpSpPr/>
            <p:nvPr/>
          </p:nvGrpSpPr>
          <p:grpSpPr>
            <a:xfrm>
              <a:off x="3593758" y="3673591"/>
              <a:ext cx="7440365" cy="3202109"/>
              <a:chOff x="3593758" y="3673591"/>
              <a:chExt cx="7440365" cy="3202109"/>
            </a:xfrm>
          </p:grpSpPr>
          <p:pic>
            <p:nvPicPr>
              <p:cNvPr id="18" name="图片 17">
                <a:extLst>
                  <a:ext uri="{FF2B5EF4-FFF2-40B4-BE49-F238E27FC236}">
                    <a16:creationId xmlns:a16="http://schemas.microsoft.com/office/drawing/2014/main" id="{CA87F41A-9A4F-7003-8EC0-F0935FAF267A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13247" r="6329"/>
              <a:stretch/>
            </p:blipFill>
            <p:spPr>
              <a:xfrm rot="20845845">
                <a:off x="3927893" y="6062085"/>
                <a:ext cx="1039024" cy="813615"/>
              </a:xfrm>
              <a:prstGeom prst="rect">
                <a:avLst/>
              </a:prstGeom>
            </p:spPr>
          </p:pic>
          <p:grpSp>
            <p:nvGrpSpPr>
              <p:cNvPr id="19" name="组合 18">
                <a:extLst>
                  <a:ext uri="{FF2B5EF4-FFF2-40B4-BE49-F238E27FC236}">
                    <a16:creationId xmlns:a16="http://schemas.microsoft.com/office/drawing/2014/main" id="{7E9B380C-A6B7-B46C-9538-E9E0CAA5CB6D}"/>
                  </a:ext>
                </a:extLst>
              </p:cNvPr>
              <p:cNvGrpSpPr/>
              <p:nvPr/>
            </p:nvGrpSpPr>
            <p:grpSpPr>
              <a:xfrm>
                <a:off x="3593758" y="3673591"/>
                <a:ext cx="7440365" cy="2459107"/>
                <a:chOff x="5049266" y="1331938"/>
                <a:chExt cx="8726907" cy="2884324"/>
              </a:xfrm>
            </p:grpSpPr>
            <p:pic>
              <p:nvPicPr>
                <p:cNvPr id="20" name="图片 19">
                  <a:extLst>
                    <a:ext uri="{FF2B5EF4-FFF2-40B4-BE49-F238E27FC236}">
                      <a16:creationId xmlns:a16="http://schemas.microsoft.com/office/drawing/2014/main" id="{A0A876B7-24E1-2EDA-4BD7-282968D2388C}"/>
                    </a:ext>
                  </a:extLst>
                </p:cNvPr>
                <p:cNvPicPr preferRelativeResize="0">
                  <a:picLocks/>
                </p:cNvPicPr>
                <p:nvPr/>
              </p:nvPicPr>
              <p:blipFill rotWithShape="1">
                <a:blip r:embed="rId4"/>
                <a:srcRect l="69987" t="5497" r="15659" b="64393"/>
                <a:stretch/>
              </p:blipFill>
              <p:spPr>
                <a:xfrm rot="4089015">
                  <a:off x="5643325" y="3135688"/>
                  <a:ext cx="700098" cy="1101422"/>
                </a:xfrm>
                <a:prstGeom prst="rect">
                  <a:avLst/>
                </a:prstGeom>
              </p:spPr>
            </p:pic>
            <p:pic>
              <p:nvPicPr>
                <p:cNvPr id="21" name="图片 20">
                  <a:extLst>
                    <a:ext uri="{FF2B5EF4-FFF2-40B4-BE49-F238E27FC236}">
                      <a16:creationId xmlns:a16="http://schemas.microsoft.com/office/drawing/2014/main" id="{45F87F04-742F-5D57-0E27-2BC463030C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5"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ackgroundRemoval t="22004" b="51589" l="56296" r="91383"/>
                          </a14:imgEffect>
                        </a14:imgLayer>
                      </a14:imgProps>
                    </a:ext>
                  </a:extLst>
                </a:blip>
                <a:srcRect l="51910" t="18306" r="4231" b="44713"/>
                <a:stretch/>
              </p:blipFill>
              <p:spPr>
                <a:xfrm>
                  <a:off x="11637082" y="1331938"/>
                  <a:ext cx="2139091" cy="1352739"/>
                </a:xfrm>
                <a:prstGeom prst="rect">
                  <a:avLst/>
                </a:prstGeom>
              </p:spPr>
            </p:pic>
            <p:pic>
              <p:nvPicPr>
                <p:cNvPr id="22" name="图片 21">
                  <a:extLst>
                    <a:ext uri="{FF2B5EF4-FFF2-40B4-BE49-F238E27FC236}">
                      <a16:creationId xmlns:a16="http://schemas.microsoft.com/office/drawing/2014/main" id="{0E267745-F02E-8E60-3321-0DCE7AE4A40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706626" y="3549419"/>
                  <a:ext cx="533473" cy="666843"/>
                </a:xfrm>
                <a:prstGeom prst="rect">
                  <a:avLst/>
                </a:prstGeom>
              </p:spPr>
            </p:pic>
            <p:pic>
              <p:nvPicPr>
                <p:cNvPr id="23" name="图片 22">
                  <a:extLst>
                    <a:ext uri="{FF2B5EF4-FFF2-40B4-BE49-F238E27FC236}">
                      <a16:creationId xmlns:a16="http://schemas.microsoft.com/office/drawing/2014/main" id="{B550A3D5-AF2E-A760-145E-F6F0E793327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092264" y="1395320"/>
                  <a:ext cx="1802223" cy="1169584"/>
                </a:xfrm>
                <a:prstGeom prst="rect">
                  <a:avLst/>
                </a:prstGeom>
              </p:spPr>
            </p:pic>
            <p:pic>
              <p:nvPicPr>
                <p:cNvPr id="24" name="图片 23">
                  <a:extLst>
                    <a:ext uri="{FF2B5EF4-FFF2-40B4-BE49-F238E27FC236}">
                      <a16:creationId xmlns:a16="http://schemas.microsoft.com/office/drawing/2014/main" id="{325F9813-99F2-B4B1-0196-A5E8C24E04D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9"/>
                <a:srcRect t="11072" b="21661"/>
                <a:stretch/>
              </p:blipFill>
              <p:spPr>
                <a:xfrm>
                  <a:off x="5049266" y="2464357"/>
                  <a:ext cx="1933845" cy="909958"/>
                </a:xfrm>
                <a:prstGeom prst="rect">
                  <a:avLst/>
                </a:prstGeom>
              </p:spPr>
            </p:pic>
          </p:grpSp>
        </p:grpSp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6FB25C8C-1A7C-30FA-8502-5D4E54CE47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030634" y="5002795"/>
              <a:ext cx="533474" cy="400106"/>
            </a:xfrm>
            <a:prstGeom prst="rect">
              <a:avLst/>
            </a:prstGeom>
          </p:spPr>
        </p:pic>
      </p:grpSp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9A3492C3-B546-5F97-D514-55E132FEC4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0966717"/>
              </p:ext>
            </p:extLst>
          </p:nvPr>
        </p:nvGraphicFramePr>
        <p:xfrm>
          <a:off x="479376" y="3405073"/>
          <a:ext cx="10918396" cy="331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9599">
                  <a:extLst>
                    <a:ext uri="{9D8B030D-6E8A-4147-A177-3AD203B41FA5}">
                      <a16:colId xmlns:a16="http://schemas.microsoft.com/office/drawing/2014/main" val="3050952663"/>
                    </a:ext>
                  </a:extLst>
                </a:gridCol>
                <a:gridCol w="2729599">
                  <a:extLst>
                    <a:ext uri="{9D8B030D-6E8A-4147-A177-3AD203B41FA5}">
                      <a16:colId xmlns:a16="http://schemas.microsoft.com/office/drawing/2014/main" val="713064038"/>
                    </a:ext>
                  </a:extLst>
                </a:gridCol>
                <a:gridCol w="2729599">
                  <a:extLst>
                    <a:ext uri="{9D8B030D-6E8A-4147-A177-3AD203B41FA5}">
                      <a16:colId xmlns:a16="http://schemas.microsoft.com/office/drawing/2014/main" val="1874787279"/>
                    </a:ext>
                  </a:extLst>
                </a:gridCol>
                <a:gridCol w="2729599">
                  <a:extLst>
                    <a:ext uri="{9D8B030D-6E8A-4147-A177-3AD203B41FA5}">
                      <a16:colId xmlns:a16="http://schemas.microsoft.com/office/drawing/2014/main" val="40951637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反应物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粗粒化模型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反应物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粗粒化模型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9330490"/>
                  </a:ext>
                </a:extLst>
              </a:tr>
              <a:tr h="100800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aseline="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异氰酸酯预聚体</a:t>
                      </a:r>
                      <a:endParaRPr lang="en-US" altLang="zh-CN" sz="1800" baseline="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algn="ctr"/>
                      <a:r>
                        <a:rPr lang="zh-CN" altLang="en-US" sz="1800" baseline="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（</a:t>
                      </a:r>
                      <a:r>
                        <a:rPr lang="en-US" altLang="zh-CN" sz="1800" baseline="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NCO</a:t>
                      </a:r>
                      <a:r>
                        <a:rPr lang="zh-CN" altLang="en-US" sz="1800" baseline="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值</a:t>
                      </a:r>
                      <a:r>
                        <a:rPr lang="en-US" altLang="zh-CN" sz="1800" baseline="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=12</a:t>
                      </a:r>
                      <a:r>
                        <a:rPr lang="zh-CN" altLang="en-US" sz="1800" baseline="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zh-CN" altLang="en-US" sz="1800" baseline="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aseline="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330N</a:t>
                      </a:r>
                      <a:endParaRPr lang="zh-CN" altLang="en-US" sz="1800" baseline="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aseline="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0011934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aseline="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PTMG1000</a:t>
                      </a:r>
                      <a:endParaRPr lang="zh-CN" altLang="en-US" sz="1800" baseline="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aseline="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aseline="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BDO</a:t>
                      </a:r>
                      <a:endParaRPr lang="zh-CN" altLang="en-US" sz="1800" baseline="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aseline="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4087923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aseline="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PTMG2000</a:t>
                      </a:r>
                      <a:endParaRPr lang="zh-CN" altLang="en-US" sz="1800" baseline="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aseline="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aseline="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aseline="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54637534"/>
                  </a:ext>
                </a:extLst>
              </a:tr>
              <a:tr h="648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aseline="0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PPCD221</a:t>
                      </a:r>
                      <a:endParaRPr lang="zh-CN" altLang="en-US" sz="1800" baseline="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aseline="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aseline="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800" baseline="0" dirty="0"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5286131"/>
                  </a:ext>
                </a:extLst>
              </a:tr>
            </a:tbl>
          </a:graphicData>
        </a:graphic>
      </p:graphicFrame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8025CD44-98C6-4DC5-E435-BDF9552E44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0833560"/>
              </p:ext>
            </p:extLst>
          </p:nvPr>
        </p:nvGraphicFramePr>
        <p:xfrm>
          <a:off x="104466" y="864326"/>
          <a:ext cx="11983068" cy="2529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7482">
                  <a:extLst>
                    <a:ext uri="{9D8B030D-6E8A-4147-A177-3AD203B41FA5}">
                      <a16:colId xmlns:a16="http://schemas.microsoft.com/office/drawing/2014/main" val="1347606449"/>
                    </a:ext>
                  </a:extLst>
                </a:gridCol>
                <a:gridCol w="3082173">
                  <a:extLst>
                    <a:ext uri="{9D8B030D-6E8A-4147-A177-3AD203B41FA5}">
                      <a16:colId xmlns:a16="http://schemas.microsoft.com/office/drawing/2014/main" val="136058525"/>
                    </a:ext>
                  </a:extLst>
                </a:gridCol>
                <a:gridCol w="8533413">
                  <a:extLst>
                    <a:ext uri="{9D8B030D-6E8A-4147-A177-3AD203B41FA5}">
                      <a16:colId xmlns:a16="http://schemas.microsoft.com/office/drawing/2014/main" val="7118322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 baseline="0" dirty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异氰酸酯预聚体</a:t>
                      </a:r>
                      <a:r>
                        <a:rPr lang="en-US" altLang="zh-CN" sz="1800" u="none" strike="noStrike" baseline="0" dirty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+</a:t>
                      </a:r>
                      <a:r>
                        <a:rPr lang="en-US" sz="1800" u="none" strike="noStrike" baseline="0" dirty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PTMG1000</a:t>
                      </a:r>
                      <a:endParaRPr lang="en-US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</a:rPr>
                        <a:t>F</a:t>
                      </a:r>
                      <a:r>
                        <a:rPr lang="en-US" altLang="zh-CN" sz="1800" b="1" dirty="0"/>
                        <a:t>G</a:t>
                      </a:r>
                      <a:r>
                        <a:rPr lang="en-US" altLang="zh-CN" b="1" baseline="-25000" dirty="0"/>
                        <a:t>12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</a:rPr>
                        <a:t>F</a:t>
                      </a:r>
                      <a:r>
                        <a:rPr lang="en-US" altLang="zh-CN" sz="1800" b="1" dirty="0"/>
                        <a:t>+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(BA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</a:rPr>
                        <a:t>28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B)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= 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</a:rPr>
                        <a:t>F</a:t>
                      </a:r>
                      <a:r>
                        <a:rPr lang="en-US" altLang="zh-CN" sz="1800" b="1" dirty="0"/>
                        <a:t>G</a:t>
                      </a:r>
                      <a:r>
                        <a:rPr lang="en-US" altLang="zh-CN" b="1" baseline="-25000" dirty="0"/>
                        <a:t>12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</a:rPr>
                        <a:t>F1</a:t>
                      </a:r>
                      <a:r>
                        <a:rPr lang="en-US" altLang="zh-CN" sz="1800" b="1" dirty="0"/>
                        <a:t>-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</a:rPr>
                        <a:t>E1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(BA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</a:rPr>
                        <a:t>28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B)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</a:rPr>
                        <a:t>E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96892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u="none" strike="noStrike" baseline="0" dirty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异氰酸酯预聚体</a:t>
                      </a:r>
                      <a:r>
                        <a:rPr lang="en-US" altLang="zh-CN" sz="1800" u="none" strike="noStrike" baseline="0" dirty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+PTMG2000</a:t>
                      </a:r>
                      <a:endParaRPr lang="en-US" altLang="zh-CN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</a:rPr>
                        <a:t>L</a:t>
                      </a:r>
                      <a:r>
                        <a:rPr lang="en-US" altLang="zh-CN" sz="1800" b="1" dirty="0"/>
                        <a:t>M</a:t>
                      </a:r>
                      <a:r>
                        <a:rPr lang="en-US" altLang="zh-CN" b="1" baseline="-25000" dirty="0"/>
                        <a:t>26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</a:rPr>
                        <a:t>L</a:t>
                      </a:r>
                      <a:r>
                        <a:rPr lang="en-US" altLang="zh-CN" sz="1800" b="1" dirty="0"/>
                        <a:t>+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(BA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</a:rPr>
                        <a:t>28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B)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= 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</a:rPr>
                        <a:t>L</a:t>
                      </a:r>
                      <a:r>
                        <a:rPr lang="en-US" altLang="zh-CN" sz="1800" b="1" dirty="0"/>
                        <a:t>M</a:t>
                      </a:r>
                      <a:r>
                        <a:rPr lang="en-US" altLang="zh-CN" b="1" baseline="-25000" dirty="0"/>
                        <a:t>26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</a:rPr>
                        <a:t>L1</a:t>
                      </a:r>
                      <a:r>
                        <a:rPr lang="en-US" altLang="zh-CN" sz="1800" b="1" dirty="0"/>
                        <a:t>-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</a:rPr>
                        <a:t>E1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(BA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</a:rPr>
                        <a:t>28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B)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</a:rPr>
                        <a:t>E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185942500"/>
                  </a:ext>
                </a:extLst>
              </a:tr>
              <a:tr h="8257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 baseline="0" dirty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异氰酸酯预聚体</a:t>
                      </a:r>
                      <a:r>
                        <a:rPr lang="en-US" altLang="zh-CN" sz="1800" u="none" strike="noStrike" baseline="0" dirty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+</a:t>
                      </a:r>
                      <a:r>
                        <a:rPr lang="en-US" sz="1800" u="none" strike="noStrike" baseline="0" dirty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330N</a:t>
                      </a:r>
                      <a:endParaRPr lang="en-US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I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(J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26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K01)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(J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26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K02)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(J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26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K03)</a:t>
                      </a:r>
                      <a:r>
                        <a:rPr lang="en-US" altLang="zh-CN" sz="1800" b="1" dirty="0"/>
                        <a:t>+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(BA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</a:rPr>
                        <a:t>28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B)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=</a:t>
                      </a:r>
                      <a:r>
                        <a:rPr lang="en-US" altLang="zh-CN" sz="1800" b="1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I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(J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26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K011)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(J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26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K02)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 (J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26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K03)</a:t>
                      </a:r>
                      <a:r>
                        <a:rPr lang="en-US" altLang="zh-CN" sz="1800" b="1" dirty="0"/>
                        <a:t>-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</a:rPr>
                        <a:t>E1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(BA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</a:rPr>
                        <a:t>28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B)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736593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4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 baseline="0" dirty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异氰酸酯预聚体</a:t>
                      </a:r>
                      <a:r>
                        <a:rPr lang="en-US" altLang="zh-CN" sz="1800" u="none" strike="noStrike" baseline="0" dirty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+</a:t>
                      </a:r>
                      <a:r>
                        <a:rPr lang="en-US" sz="1800" u="none" strike="noStrike" baseline="0" dirty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BDO</a:t>
                      </a:r>
                      <a:endParaRPr lang="en-US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C-C</a:t>
                      </a:r>
                      <a:r>
                        <a:rPr lang="en-US" altLang="zh-CN" sz="1800" b="1" dirty="0"/>
                        <a:t>+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(BA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</a:rPr>
                        <a:t>28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B)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=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CC1</a:t>
                      </a:r>
                      <a:r>
                        <a:rPr lang="en-US" altLang="zh-CN" sz="1800" b="1" dirty="0"/>
                        <a:t>-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</a:rPr>
                        <a:t>E1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(BA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</a:rPr>
                        <a:t>28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B)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  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63278782"/>
                  </a:ext>
                </a:extLst>
              </a:tr>
              <a:tr h="16292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5</a:t>
                      </a:r>
                      <a:endParaRPr lang="zh-CN" altLang="en-US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u="none" strike="noStrike" baseline="0" dirty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异氰酸酯预聚体</a:t>
                      </a:r>
                      <a:r>
                        <a:rPr lang="en-US" altLang="zh-CN" sz="1800" u="none" strike="noStrike" baseline="0" dirty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+</a:t>
                      </a:r>
                      <a:r>
                        <a:rPr lang="zh-CN" altLang="en-US" sz="1800" u="none" strike="noStrike" baseline="0" dirty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水</a:t>
                      </a:r>
                      <a:r>
                        <a:rPr lang="en-US" altLang="zh-CN" sz="1800" u="none" strike="noStrike" baseline="0" dirty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=</a:t>
                      </a:r>
                      <a:r>
                        <a:rPr lang="zh-CN" altLang="en-US" sz="1800" u="none" strike="noStrike" baseline="0" dirty="0"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氨基甲酸</a:t>
                      </a:r>
                      <a:endParaRPr lang="zh-CN" altLang="en-US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O</a:t>
                      </a:r>
                      <a:r>
                        <a:rPr lang="en-US" altLang="zh-CN" sz="1800" b="1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H</a:t>
                      </a:r>
                      <a:r>
                        <a:rPr lang="en-US" altLang="zh-CN" sz="1800" b="1" dirty="0"/>
                        <a:t>+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(BA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</a:rPr>
                        <a:t>28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B)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=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(BA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</a:rPr>
                        <a:t>28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B)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</a:rPr>
                        <a:t>E1</a:t>
                      </a:r>
                      <a:r>
                        <a:rPr lang="en-US" altLang="zh-CN" sz="1800" b="1" dirty="0"/>
                        <a:t>-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O1</a:t>
                      </a:r>
                      <a:r>
                        <a:rPr lang="en-US" altLang="zh-CN" sz="1800" b="1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H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7503957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6</a:t>
                      </a:r>
                      <a:endParaRPr lang="zh-CN" altLang="en-US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氨基甲酸分解</a:t>
                      </a:r>
                      <a:endParaRPr lang="en-US" altLang="zh-CN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  <a:p>
                      <a:pPr algn="ctr" fontAlgn="ctr"/>
                      <a:r>
                        <a:rPr lang="en-US" altLang="zh-CN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=</a:t>
                      </a:r>
                      <a:r>
                        <a:rPr lang="zh-CN" altLang="en-US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胺</a:t>
                      </a:r>
                      <a:r>
                        <a:rPr lang="en-US" altLang="zh-CN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+</a:t>
                      </a:r>
                      <a:r>
                        <a:rPr lang="zh-CN" altLang="en-US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二氧化碳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(BA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</a:rPr>
                        <a:t>28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B)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</a:rPr>
                        <a:t>E1</a:t>
                      </a:r>
                      <a:r>
                        <a:rPr lang="en-US" altLang="zh-CN" sz="1800" b="1" dirty="0"/>
                        <a:t>-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O1</a:t>
                      </a:r>
                      <a:r>
                        <a:rPr lang="en-US" altLang="zh-CN" sz="1800" b="1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H=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(BA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</a:rPr>
                        <a:t>28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B)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</a:rPr>
                        <a:t>E2</a:t>
                      </a:r>
                      <a:r>
                        <a:rPr lang="en-US" altLang="zh-CN" sz="1800" b="1" dirty="0"/>
                        <a:t>-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O2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+</a:t>
                      </a:r>
                      <a:r>
                        <a:rPr lang="en-US" altLang="zh-CN" sz="1800" b="1" dirty="0"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H1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0235383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7</a:t>
                      </a:r>
                      <a:endParaRPr lang="zh-CN" altLang="en-US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u="none" strike="noStrike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异氰酸酯</a:t>
                      </a:r>
                      <a:r>
                        <a:rPr lang="en-US" altLang="zh-CN" sz="1800" u="none" strike="noStrike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+</a:t>
                      </a:r>
                      <a:r>
                        <a:rPr lang="zh-CN" altLang="en-US" sz="1800" u="none" strike="noStrike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胺</a:t>
                      </a:r>
                      <a:r>
                        <a:rPr lang="en-US" altLang="zh-CN" sz="1800" u="none" strike="noStrike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=</a:t>
                      </a:r>
                      <a:r>
                        <a:rPr lang="zh-CN" altLang="en-US" sz="1800" u="none" strike="noStrike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脲</a:t>
                      </a:r>
                      <a:endParaRPr lang="zh-CN" altLang="en-US" sz="1800" b="0" i="0" u="none" strike="noStrike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(BA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</a:rPr>
                        <a:t>28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B)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</a:rPr>
                        <a:t>E2</a:t>
                      </a:r>
                      <a:r>
                        <a:rPr lang="en-US" altLang="zh-CN" sz="1800" b="1" dirty="0"/>
                        <a:t>-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O2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+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(BA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</a:rPr>
                        <a:t>28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B)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</a:rPr>
                        <a:t>E=E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(BA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</a:rPr>
                        <a:t>28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B)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</a:rPr>
                        <a:t>E2</a:t>
                      </a:r>
                      <a:r>
                        <a:rPr lang="en-US" altLang="zh-CN" sz="1800" b="1" dirty="0"/>
                        <a:t>-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O3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-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</a:rPr>
                        <a:t>E1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(BA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</a:rPr>
                        <a:t>28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B)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</a:rPr>
                        <a:t>E</a:t>
                      </a:r>
                      <a:endParaRPr lang="zh-CN" altLang="en-US" sz="18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119168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8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8</a:t>
                      </a:r>
                      <a:endParaRPr lang="zh-CN" altLang="en-US" sz="1800" b="0" i="0" u="none" strike="noStrike" baseline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u="none" strike="noStrike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异氰酸酯</a:t>
                      </a:r>
                      <a:r>
                        <a:rPr lang="en-US" altLang="zh-CN" sz="1800" u="none" strike="noStrike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+</a:t>
                      </a:r>
                      <a:r>
                        <a:rPr lang="zh-CN" altLang="en-US" sz="1800" u="none" strike="noStrike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脲</a:t>
                      </a:r>
                      <a:r>
                        <a:rPr lang="en-US" altLang="zh-CN" sz="1800" u="none" strike="noStrike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=</a:t>
                      </a:r>
                      <a:r>
                        <a:rPr lang="zh-CN" altLang="en-US" sz="1800" u="none" strike="noStrike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缩二脲</a:t>
                      </a:r>
                      <a:endParaRPr lang="zh-CN" altLang="en-US" sz="1800" b="0" i="0" u="none" strike="noStrike" baseline="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1" dirty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(BA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</a:rPr>
                        <a:t>28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B)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</a:rPr>
                        <a:t>E2</a:t>
                      </a:r>
                      <a:r>
                        <a:rPr lang="en-US" altLang="zh-CN" sz="1800" b="1" dirty="0"/>
                        <a:t>-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O3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-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</a:rPr>
                        <a:t>E1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(BA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</a:rPr>
                        <a:t>28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B)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(BA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</a:rPr>
                        <a:t>28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B)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</a:rPr>
                        <a:t>E=E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(BA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</a:rPr>
                        <a:t>28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B)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</a:rPr>
                        <a:t>E2</a:t>
                      </a:r>
                      <a:r>
                        <a:rPr lang="en-US" altLang="zh-CN" sz="1800" b="1" dirty="0"/>
                        <a:t>-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O4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-[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</a:rPr>
                        <a:t>E1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(BA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</a:rPr>
                        <a:t>28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</a:rPr>
                        <a:t>B)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en-US" altLang="zh-CN" sz="1800" b="1" dirty="0">
                          <a:solidFill>
                            <a:srgbClr val="C00000"/>
                          </a:solidFill>
                        </a:rPr>
                        <a:t>E</a:t>
                      </a:r>
                      <a:r>
                        <a:rPr lang="en-US" altLang="zh-CN" sz="1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]</a:t>
                      </a:r>
                      <a:r>
                        <a:rPr lang="en-US" altLang="zh-CN" sz="1800" b="1" baseline="-250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黑体" panose="02010609060101010101" pitchFamily="49" charset="-122"/>
                        </a:rPr>
                        <a:t>2</a:t>
                      </a:r>
                      <a:endParaRPr lang="zh-CN" altLang="en-US" sz="1800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黑体" panose="02010609060101010101" pitchFamily="49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76629103"/>
                  </a:ext>
                </a:extLst>
              </a:tr>
            </a:tbl>
          </a:graphicData>
        </a:graphic>
      </p:graphicFrame>
      <p:sp>
        <p:nvSpPr>
          <p:cNvPr id="27" name="标题 6">
            <a:extLst>
              <a:ext uri="{FF2B5EF4-FFF2-40B4-BE49-F238E27FC236}">
                <a16:creationId xmlns:a16="http://schemas.microsoft.com/office/drawing/2014/main" id="{20C327D9-D3F1-3AFD-9F1F-78A66BD4431B}"/>
              </a:ext>
            </a:extLst>
          </p:cNvPr>
          <p:cNvSpPr txBox="1">
            <a:spLocks/>
          </p:cNvSpPr>
          <p:nvPr/>
        </p:nvSpPr>
        <p:spPr>
          <a:xfrm>
            <a:off x="0" y="284419"/>
            <a:ext cx="10391775" cy="5318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indent="457200"/>
            <a:r>
              <a:rPr lang="zh-CN" altLang="zh-CN" sz="3200" kern="100" dirty="0">
                <a:latin typeface="黑体" panose="02010609060101010101" pitchFamily="49" charset="-122"/>
                <a:ea typeface="黑体" panose="02010609060101010101" pitchFamily="49" charset="-122"/>
              </a:rPr>
              <a:t>聚氨酯聚合反应模拟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921849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FDC2DC07-610F-A1D1-E638-31FBD1DE127E}"/>
                  </a:ext>
                </a:extLst>
              </p14:cNvPr>
              <p14:cNvContentPartPr/>
              <p14:nvPr/>
            </p14:nvContentPartPr>
            <p14:xfrm>
              <a:off x="648341" y="-458465"/>
              <a:ext cx="360" cy="3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FDC2DC07-610F-A1D1-E638-31FBD1DE127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2341" y="-674465"/>
                <a:ext cx="72000" cy="4320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标题 23">
            <a:extLst>
              <a:ext uri="{FF2B5EF4-FFF2-40B4-BE49-F238E27FC236}">
                <a16:creationId xmlns:a16="http://schemas.microsoft.com/office/drawing/2014/main" id="{06C2DE2B-C4BB-439E-014F-FD23ACCC1373}"/>
              </a:ext>
            </a:extLst>
          </p:cNvPr>
          <p:cNvSpPr txBox="1"/>
          <p:nvPr/>
        </p:nvSpPr>
        <p:spPr>
          <a:xfrm>
            <a:off x="648341" y="3983085"/>
            <a:ext cx="3069963" cy="16021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800" b="1" dirty="0">
                <a:latin typeface="KaiTi" panose="02010609060101010101" pitchFamily="49" charset="-122"/>
                <a:ea typeface="KaiTi" panose="02010609060101010101" pitchFamily="49" charset="-122"/>
                <a:cs typeface="微软雅黑" panose="020B0503020204020204" pitchFamily="34" charset="-122"/>
              </a:rPr>
              <a:t>项目描述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9E90140-5ACA-92AA-C23C-D72D0DD2D6FD}"/>
              </a:ext>
            </a:extLst>
          </p:cNvPr>
          <p:cNvSpPr txBox="1"/>
          <p:nvPr/>
        </p:nvSpPr>
        <p:spPr>
          <a:xfrm>
            <a:off x="4513844" y="492229"/>
            <a:ext cx="7128029" cy="49917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创建计算平台模拟聚氨酯缩聚反应</a:t>
            </a:r>
            <a:r>
              <a:rPr lang="zh-CN" altLang="en-US" sz="24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并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监控缩聚反应的进程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观测从反应物的最初状态到最终产物的形成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追踪反应物之间、反应物与催化剂的活性位点之间的反应和扩散的动力学性质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建立适用于分子动力学模拟的模型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分析反应条件与工艺流程对聚合反应的影响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4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减少材料耗费加快实验进度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7805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FDC2DC07-610F-A1D1-E638-31FBD1DE127E}"/>
                  </a:ext>
                </a:extLst>
              </p14:cNvPr>
              <p14:cNvContentPartPr/>
              <p14:nvPr/>
            </p14:nvContentPartPr>
            <p14:xfrm>
              <a:off x="648341" y="-458465"/>
              <a:ext cx="360" cy="3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FDC2DC07-610F-A1D1-E638-31FBD1DE127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12341" y="-674465"/>
                <a:ext cx="72000" cy="4320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标题 23">
            <a:extLst>
              <a:ext uri="{FF2B5EF4-FFF2-40B4-BE49-F238E27FC236}">
                <a16:creationId xmlns:a16="http://schemas.microsoft.com/office/drawing/2014/main" id="{06C2DE2B-C4BB-439E-014F-FD23ACCC1373}"/>
              </a:ext>
            </a:extLst>
          </p:cNvPr>
          <p:cNvSpPr txBox="1"/>
          <p:nvPr/>
        </p:nvSpPr>
        <p:spPr>
          <a:xfrm>
            <a:off x="443695" y="4952944"/>
            <a:ext cx="3069963" cy="16021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800" b="1" dirty="0">
                <a:latin typeface="KaiTi" panose="02010609060101010101" pitchFamily="49" charset="-122"/>
                <a:ea typeface="KaiTi" panose="02010609060101010101" pitchFamily="49" charset="-122"/>
                <a:cs typeface="微软雅黑" panose="020B0503020204020204" pitchFamily="34" charset="-122"/>
              </a:rPr>
              <a:t>任务创建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AA09788-2E37-5E37-5965-7977145ACB10}"/>
              </a:ext>
            </a:extLst>
          </p:cNvPr>
          <p:cNvGrpSpPr/>
          <p:nvPr/>
        </p:nvGrpSpPr>
        <p:grpSpPr>
          <a:xfrm>
            <a:off x="4253023" y="0"/>
            <a:ext cx="6358270" cy="6943060"/>
            <a:chOff x="4813159" y="121457"/>
            <a:chExt cx="5257051" cy="6736543"/>
          </a:xfrm>
        </p:grpSpPr>
        <p:pic>
          <p:nvPicPr>
            <p:cNvPr id="5" name="图片 4" descr="图形用户界面, 应用程序&#10;&#10;描述已自动生成">
              <a:extLst>
                <a:ext uri="{FF2B5EF4-FFF2-40B4-BE49-F238E27FC236}">
                  <a16:creationId xmlns:a16="http://schemas.microsoft.com/office/drawing/2014/main" id="{042252A9-8581-C770-5CDE-432DFDA7D1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l="17391" r="14972"/>
            <a:stretch/>
          </p:blipFill>
          <p:spPr>
            <a:xfrm>
              <a:off x="4813159" y="121457"/>
              <a:ext cx="5257051" cy="4410528"/>
            </a:xfrm>
            <a:prstGeom prst="rect">
              <a:avLst/>
            </a:prstGeom>
          </p:spPr>
        </p:pic>
        <p:pic>
          <p:nvPicPr>
            <p:cNvPr id="6" name="图片 5" descr="图形用户界面, 应用程序&#10;&#10;描述已自动生成">
              <a:extLst>
                <a:ext uri="{FF2B5EF4-FFF2-40B4-BE49-F238E27FC236}">
                  <a16:creationId xmlns:a16="http://schemas.microsoft.com/office/drawing/2014/main" id="{0A70F861-5D32-F86C-AF6F-0A4BD8189F1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l="17391" r="14971"/>
            <a:stretch/>
          </p:blipFill>
          <p:spPr>
            <a:xfrm>
              <a:off x="4813159" y="4241497"/>
              <a:ext cx="5257051" cy="26165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75304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FDC2DC07-610F-A1D1-E638-31FBD1DE127E}"/>
                  </a:ext>
                </a:extLst>
              </p14:cNvPr>
              <p14:cNvContentPartPr/>
              <p14:nvPr/>
            </p14:nvContentPartPr>
            <p14:xfrm>
              <a:off x="648341" y="-458465"/>
              <a:ext cx="360" cy="3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FDC2DC07-610F-A1D1-E638-31FBD1DE127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12341" y="-674465"/>
                <a:ext cx="72000" cy="4320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标题 23">
            <a:extLst>
              <a:ext uri="{FF2B5EF4-FFF2-40B4-BE49-F238E27FC236}">
                <a16:creationId xmlns:a16="http://schemas.microsoft.com/office/drawing/2014/main" id="{06C2DE2B-C4BB-439E-014F-FD23ACCC1373}"/>
              </a:ext>
            </a:extLst>
          </p:cNvPr>
          <p:cNvSpPr txBox="1"/>
          <p:nvPr/>
        </p:nvSpPr>
        <p:spPr>
          <a:xfrm>
            <a:off x="146885" y="4946912"/>
            <a:ext cx="2276013" cy="16021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zh-CN" altLang="en-US" sz="4000" b="1" dirty="0">
                <a:latin typeface="KaiTi" panose="02010609060101010101" pitchFamily="49" charset="-122"/>
                <a:ea typeface="KaiTi" panose="02010609060101010101" pitchFamily="49" charset="-122"/>
                <a:cs typeface="微软雅黑" panose="020B0503020204020204" pitchFamily="34" charset="-122"/>
              </a:rPr>
              <a:t>任务详情</a:t>
            </a:r>
            <a:r>
              <a:rPr lang="en-US" altLang="zh-CN" sz="4000" b="1" dirty="0">
                <a:latin typeface="KaiTi" panose="02010609060101010101" pitchFamily="49" charset="-122"/>
                <a:ea typeface="KaiTi" panose="02010609060101010101" pitchFamily="49" charset="-122"/>
                <a:cs typeface="微软雅黑" panose="020B0503020204020204" pitchFamily="34" charset="-122"/>
              </a:rPr>
              <a:t>-</a:t>
            </a:r>
            <a:r>
              <a:rPr lang="zh-CN" altLang="en-US" sz="4000" b="1" dirty="0">
                <a:latin typeface="KaiTi" panose="02010609060101010101" pitchFamily="49" charset="-122"/>
                <a:ea typeface="KaiTi" panose="02010609060101010101" pitchFamily="49" charset="-122"/>
                <a:cs typeface="微软雅黑" panose="020B0503020204020204" pitchFamily="34" charset="-122"/>
              </a:rPr>
              <a:t> 概括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531EBD2-8C5E-86B9-87D3-640E0E30CD23}"/>
              </a:ext>
            </a:extLst>
          </p:cNvPr>
          <p:cNvGrpSpPr/>
          <p:nvPr/>
        </p:nvGrpSpPr>
        <p:grpSpPr>
          <a:xfrm>
            <a:off x="2477391" y="21266"/>
            <a:ext cx="9831572" cy="6804606"/>
            <a:chOff x="2318756" y="3057099"/>
            <a:chExt cx="7772400" cy="4986201"/>
          </a:xfrm>
        </p:grpSpPr>
        <p:pic>
          <p:nvPicPr>
            <p:cNvPr id="13" name="图片 12" descr="图表, 箱线图&#10;&#10;描述已自动生成">
              <a:extLst>
                <a:ext uri="{FF2B5EF4-FFF2-40B4-BE49-F238E27FC236}">
                  <a16:creationId xmlns:a16="http://schemas.microsoft.com/office/drawing/2014/main" id="{1FB08894-50D0-9895-4C44-D2E8A8AEFE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318756" y="3057099"/>
              <a:ext cx="7772400" cy="4415669"/>
            </a:xfrm>
            <a:prstGeom prst="rect">
              <a:avLst/>
            </a:prstGeom>
          </p:spPr>
        </p:pic>
        <p:pic>
          <p:nvPicPr>
            <p:cNvPr id="14" name="图片 13" descr="图表, 箱线图&#10;&#10;描述已自动生成">
              <a:extLst>
                <a:ext uri="{FF2B5EF4-FFF2-40B4-BE49-F238E27FC236}">
                  <a16:creationId xmlns:a16="http://schemas.microsoft.com/office/drawing/2014/main" id="{87C72FDC-40AA-4EB5-A4C4-CBC70BAFA7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318756" y="4704923"/>
              <a:ext cx="7772400" cy="333837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38584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FDC2DC07-610F-A1D1-E638-31FBD1DE127E}"/>
                  </a:ext>
                </a:extLst>
              </p14:cNvPr>
              <p14:cNvContentPartPr/>
              <p14:nvPr/>
            </p14:nvContentPartPr>
            <p14:xfrm>
              <a:off x="648341" y="-458465"/>
              <a:ext cx="360" cy="3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FDC2DC07-610F-A1D1-E638-31FBD1DE127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12341" y="-674465"/>
                <a:ext cx="72000" cy="4320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标题 23">
            <a:extLst>
              <a:ext uri="{FF2B5EF4-FFF2-40B4-BE49-F238E27FC236}">
                <a16:creationId xmlns:a16="http://schemas.microsoft.com/office/drawing/2014/main" id="{06C2DE2B-C4BB-439E-014F-FD23ACCC1373}"/>
              </a:ext>
            </a:extLst>
          </p:cNvPr>
          <p:cNvSpPr txBox="1"/>
          <p:nvPr/>
        </p:nvSpPr>
        <p:spPr>
          <a:xfrm>
            <a:off x="179504" y="5076268"/>
            <a:ext cx="5776455" cy="16021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KaiTi" panose="02010609060101010101" pitchFamily="49" charset="-122"/>
                <a:ea typeface="KaiTi" panose="02010609060101010101" pitchFamily="49" charset="-122"/>
                <a:cs typeface="微软雅黑" panose="020B0503020204020204" pitchFamily="34" charset="-122"/>
              </a:rPr>
              <a:t>任务详情</a:t>
            </a:r>
            <a:r>
              <a:rPr lang="en-US" altLang="zh-CN" sz="4000" b="1" dirty="0">
                <a:latin typeface="KaiTi" panose="02010609060101010101" pitchFamily="49" charset="-122"/>
                <a:ea typeface="KaiTi" panose="02010609060101010101" pitchFamily="49" charset="-122"/>
                <a:cs typeface="微软雅黑" panose="020B0503020204020204" pitchFamily="34" charset="-122"/>
              </a:rPr>
              <a:t>-</a:t>
            </a:r>
            <a:r>
              <a:rPr lang="zh-CN" altLang="en-US" sz="4000" b="1" dirty="0">
                <a:latin typeface="KaiTi" panose="02010609060101010101" pitchFamily="49" charset="-122"/>
                <a:ea typeface="KaiTi" panose="02010609060101010101" pitchFamily="49" charset="-122"/>
                <a:cs typeface="微软雅黑" panose="020B0503020204020204" pitchFamily="34" charset="-122"/>
              </a:rPr>
              <a:t>任务描述修改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0122CB0-BC38-330C-BFD0-A3B43B9FEF3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9111" y="641799"/>
            <a:ext cx="4546590" cy="1515530"/>
          </a:xfrm>
          <a:prstGeom prst="rect">
            <a:avLst/>
          </a:prstGeom>
        </p:spPr>
      </p:pic>
      <p:pic>
        <p:nvPicPr>
          <p:cNvPr id="8" name="图片 7" descr="图形用户界面, 文本, 应用程序&#10;&#10;描述已自动生成">
            <a:extLst>
              <a:ext uri="{FF2B5EF4-FFF2-40B4-BE49-F238E27FC236}">
                <a16:creationId xmlns:a16="http://schemas.microsoft.com/office/drawing/2014/main" id="{BE4CAB09-2B0E-780B-4308-55439E5B1C2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01109" y="410825"/>
            <a:ext cx="3521757" cy="1883471"/>
          </a:xfrm>
          <a:prstGeom prst="rect">
            <a:avLst/>
          </a:prstGeom>
        </p:spPr>
      </p:pic>
      <p:sp>
        <p:nvSpPr>
          <p:cNvPr id="12" name="右箭头 11">
            <a:extLst>
              <a:ext uri="{FF2B5EF4-FFF2-40B4-BE49-F238E27FC236}">
                <a16:creationId xmlns:a16="http://schemas.microsoft.com/office/drawing/2014/main" id="{6E7B1AF8-7803-BF5F-DC08-C652189E19BB}"/>
              </a:ext>
            </a:extLst>
          </p:cNvPr>
          <p:cNvSpPr/>
          <p:nvPr/>
        </p:nvSpPr>
        <p:spPr>
          <a:xfrm rot="10800000">
            <a:off x="6593700" y="4052107"/>
            <a:ext cx="1257817" cy="559558"/>
          </a:xfrm>
          <a:prstGeom prst="rightArrow">
            <a:avLst>
              <a:gd name="adj1" fmla="val 40244"/>
              <a:gd name="adj2" fmla="val 50000"/>
            </a:avLst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4" name="图片 13" descr="图形用户界面, 文本&#10;&#10;描述已自动生成">
            <a:extLst>
              <a:ext uri="{FF2B5EF4-FFF2-40B4-BE49-F238E27FC236}">
                <a16:creationId xmlns:a16="http://schemas.microsoft.com/office/drawing/2014/main" id="{EF7E1652-F7BC-6F1F-E0DD-34313A491DF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50865" y="3620440"/>
            <a:ext cx="3172001" cy="177009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17ADAA09-D1FB-F7FA-7AB4-988215A86372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r="53913" b="4722"/>
          <a:stretch/>
        </p:blipFill>
        <p:spPr>
          <a:xfrm>
            <a:off x="648341" y="4125442"/>
            <a:ext cx="5307618" cy="590937"/>
          </a:xfrm>
          <a:prstGeom prst="rect">
            <a:avLst/>
          </a:prstGeom>
        </p:spPr>
      </p:pic>
      <p:sp>
        <p:nvSpPr>
          <p:cNvPr id="17" name="右箭头 16">
            <a:extLst>
              <a:ext uri="{FF2B5EF4-FFF2-40B4-BE49-F238E27FC236}">
                <a16:creationId xmlns:a16="http://schemas.microsoft.com/office/drawing/2014/main" id="{D492407E-C3D4-C494-A46D-F4418AE22A2E}"/>
              </a:ext>
            </a:extLst>
          </p:cNvPr>
          <p:cNvSpPr/>
          <p:nvPr/>
        </p:nvSpPr>
        <p:spPr>
          <a:xfrm rot="5400000">
            <a:off x="9475192" y="2736977"/>
            <a:ext cx="1050547" cy="559558"/>
          </a:xfrm>
          <a:prstGeom prst="rightArrow">
            <a:avLst>
              <a:gd name="adj1" fmla="val 40244"/>
              <a:gd name="adj2" fmla="val 50000"/>
            </a:avLst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右箭头 17">
            <a:extLst>
              <a:ext uri="{FF2B5EF4-FFF2-40B4-BE49-F238E27FC236}">
                <a16:creationId xmlns:a16="http://schemas.microsoft.com/office/drawing/2014/main" id="{427C24DF-67A0-D73A-3FBE-318A9672B642}"/>
              </a:ext>
            </a:extLst>
          </p:cNvPr>
          <p:cNvSpPr/>
          <p:nvPr/>
        </p:nvSpPr>
        <p:spPr>
          <a:xfrm>
            <a:off x="5306930" y="1119785"/>
            <a:ext cx="1933842" cy="559558"/>
          </a:xfrm>
          <a:prstGeom prst="rightArrow">
            <a:avLst>
              <a:gd name="adj1" fmla="val 40244"/>
              <a:gd name="adj2" fmla="val 50000"/>
            </a:avLst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003444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FDC2DC07-610F-A1D1-E638-31FBD1DE127E}"/>
                  </a:ext>
                </a:extLst>
              </p14:cNvPr>
              <p14:cNvContentPartPr/>
              <p14:nvPr/>
            </p14:nvContentPartPr>
            <p14:xfrm>
              <a:off x="648341" y="-458465"/>
              <a:ext cx="360" cy="3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FDC2DC07-610F-A1D1-E638-31FBD1DE127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12341" y="-674465"/>
                <a:ext cx="72000" cy="4320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标题 23">
            <a:extLst>
              <a:ext uri="{FF2B5EF4-FFF2-40B4-BE49-F238E27FC236}">
                <a16:creationId xmlns:a16="http://schemas.microsoft.com/office/drawing/2014/main" id="{06C2DE2B-C4BB-439E-014F-FD23ACCC1373}"/>
              </a:ext>
            </a:extLst>
          </p:cNvPr>
          <p:cNvSpPr txBox="1"/>
          <p:nvPr/>
        </p:nvSpPr>
        <p:spPr>
          <a:xfrm>
            <a:off x="178784" y="4946912"/>
            <a:ext cx="4079317" cy="16021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000" b="1" dirty="0">
                <a:latin typeface="KaiTi" panose="02010609060101010101" pitchFamily="49" charset="-122"/>
                <a:ea typeface="KaiTi" panose="02010609060101010101" pitchFamily="49" charset="-122"/>
                <a:cs typeface="微软雅黑" panose="020B0503020204020204" pitchFamily="34" charset="-122"/>
              </a:rPr>
              <a:t>任务详情 </a:t>
            </a:r>
            <a:r>
              <a:rPr lang="en-US" altLang="zh-CN" sz="4000" b="1" dirty="0">
                <a:latin typeface="KaiTi" panose="02010609060101010101" pitchFamily="49" charset="-122"/>
                <a:ea typeface="KaiTi" panose="02010609060101010101" pitchFamily="49" charset="-122"/>
                <a:cs typeface="微软雅黑" panose="020B0503020204020204" pitchFamily="34" charset="-122"/>
              </a:rPr>
              <a:t>-</a:t>
            </a:r>
            <a:r>
              <a:rPr lang="zh-CN" altLang="en-US" sz="4000" b="1" dirty="0">
                <a:latin typeface="KaiTi" panose="02010609060101010101" pitchFamily="49" charset="-122"/>
                <a:ea typeface="KaiTi" panose="02010609060101010101" pitchFamily="49" charset="-122"/>
                <a:cs typeface="微软雅黑" panose="020B0503020204020204" pitchFamily="34" charset="-122"/>
              </a:rPr>
              <a:t> 打印</a:t>
            </a:r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9F28993C-F4E2-7CC0-E0B3-0DD7A0BEA7B4}"/>
              </a:ext>
            </a:extLst>
          </p:cNvPr>
          <p:cNvGrpSpPr/>
          <p:nvPr/>
        </p:nvGrpSpPr>
        <p:grpSpPr>
          <a:xfrm>
            <a:off x="236718" y="161216"/>
            <a:ext cx="5729800" cy="3264184"/>
            <a:chOff x="648341" y="711077"/>
            <a:chExt cx="4616831" cy="2400019"/>
          </a:xfrm>
        </p:grpSpPr>
        <p:pic>
          <p:nvPicPr>
            <p:cNvPr id="5" name="图片 4" descr="图形用户界面, 文本, 应用程序&#10;&#10;描述已自动生成">
              <a:extLst>
                <a:ext uri="{FF2B5EF4-FFF2-40B4-BE49-F238E27FC236}">
                  <a16:creationId xmlns:a16="http://schemas.microsoft.com/office/drawing/2014/main" id="{DAF3B7EE-5872-C164-D1A0-A8D0013631E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48341" y="711077"/>
              <a:ext cx="4616831" cy="2400019"/>
            </a:xfrm>
            <a:prstGeom prst="rect">
              <a:avLst/>
            </a:prstGeom>
          </p:spPr>
        </p:pic>
        <p:sp>
          <p:nvSpPr>
            <p:cNvPr id="6" name="右箭头 5">
              <a:extLst>
                <a:ext uri="{FF2B5EF4-FFF2-40B4-BE49-F238E27FC236}">
                  <a16:creationId xmlns:a16="http://schemas.microsoft.com/office/drawing/2014/main" id="{05D6918F-104D-4A6E-6573-FB5261DB9002}"/>
                </a:ext>
              </a:extLst>
            </p:cNvPr>
            <p:cNvSpPr/>
            <p:nvPr/>
          </p:nvSpPr>
          <p:spPr>
            <a:xfrm rot="10800000">
              <a:off x="1552446" y="1649379"/>
              <a:ext cx="620626" cy="235975"/>
            </a:xfrm>
            <a:prstGeom prst="rightArrow">
              <a:avLst>
                <a:gd name="adj1" fmla="val 40244"/>
                <a:gd name="adj2" fmla="val 50000"/>
              </a:avLst>
            </a:prstGeom>
            <a:solidFill>
              <a:srgbClr val="FF00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12" name="图片 11" descr="图形用户界面&#10;&#10;中度可信度描述已自动生成">
            <a:extLst>
              <a:ext uri="{FF2B5EF4-FFF2-40B4-BE49-F238E27FC236}">
                <a16:creationId xmlns:a16="http://schemas.microsoft.com/office/drawing/2014/main" id="{4E2BB80B-239F-808C-87F4-94DD2550A79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66529" y="2941077"/>
            <a:ext cx="5370289" cy="3540103"/>
          </a:xfrm>
          <a:prstGeom prst="rect">
            <a:avLst/>
          </a:prstGeom>
        </p:spPr>
      </p:pic>
      <p:sp>
        <p:nvSpPr>
          <p:cNvPr id="15" name="圆角右箭头 14">
            <a:extLst>
              <a:ext uri="{FF2B5EF4-FFF2-40B4-BE49-F238E27FC236}">
                <a16:creationId xmlns:a16="http://schemas.microsoft.com/office/drawing/2014/main" id="{0F78A7EF-DDA0-C9D9-2B3E-3192C168801C}"/>
              </a:ext>
            </a:extLst>
          </p:cNvPr>
          <p:cNvSpPr/>
          <p:nvPr/>
        </p:nvSpPr>
        <p:spPr>
          <a:xfrm rot="5400000">
            <a:off x="6568321" y="1113822"/>
            <a:ext cx="1329071" cy="1823363"/>
          </a:xfrm>
          <a:prstGeom prst="bentArrow">
            <a:avLst>
              <a:gd name="adj1" fmla="val 22369"/>
              <a:gd name="adj2" fmla="val 30702"/>
              <a:gd name="adj3" fmla="val 34574"/>
              <a:gd name="adj4" fmla="val 43750"/>
            </a:avLst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5966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, 应用程序, 表格&#10;&#10;描述已自动生成">
            <a:hlinkClick r:id="rId3" action="ppaction://hlinksldjump"/>
            <a:extLst>
              <a:ext uri="{FF2B5EF4-FFF2-40B4-BE49-F238E27FC236}">
                <a16:creationId xmlns:a16="http://schemas.microsoft.com/office/drawing/2014/main" id="{3199A801-D2F2-91AA-FE47-3652EF00650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733" t="56" r="14289" b="9577"/>
          <a:stretch/>
        </p:blipFill>
        <p:spPr>
          <a:xfrm>
            <a:off x="3274541" y="318171"/>
            <a:ext cx="8501449" cy="562542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5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FDC2DC07-610F-A1D1-E638-31FBD1DE127E}"/>
                  </a:ext>
                </a:extLst>
              </p14:cNvPr>
              <p14:cNvContentPartPr/>
              <p14:nvPr/>
            </p14:nvContentPartPr>
            <p14:xfrm>
              <a:off x="648341" y="-458465"/>
              <a:ext cx="360" cy="3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FDC2DC07-610F-A1D1-E638-31FBD1DE127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12341" y="-674465"/>
                <a:ext cx="72000" cy="4320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标题 23">
            <a:extLst>
              <a:ext uri="{FF2B5EF4-FFF2-40B4-BE49-F238E27FC236}">
                <a16:creationId xmlns:a16="http://schemas.microsoft.com/office/drawing/2014/main" id="{06C2DE2B-C4BB-439E-014F-FD23ACCC1373}"/>
              </a:ext>
            </a:extLst>
          </p:cNvPr>
          <p:cNvSpPr txBox="1"/>
          <p:nvPr/>
        </p:nvSpPr>
        <p:spPr>
          <a:xfrm>
            <a:off x="512417" y="4937660"/>
            <a:ext cx="3069963" cy="16021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800" b="1" dirty="0">
                <a:latin typeface="KaiTi" panose="02010609060101010101" pitchFamily="49" charset="-122"/>
                <a:ea typeface="KaiTi" panose="02010609060101010101" pitchFamily="49" charset="-122"/>
                <a:cs typeface="微软雅黑" panose="020B0503020204020204" pitchFamily="34" charset="-122"/>
              </a:rPr>
              <a:t>任务列表</a:t>
            </a:r>
          </a:p>
        </p:txBody>
      </p:sp>
    </p:spTree>
    <p:extLst>
      <p:ext uri="{BB962C8B-B14F-4D97-AF65-F5344CB8AC3E}">
        <p14:creationId xmlns:p14="http://schemas.microsoft.com/office/powerpoint/2010/main" val="1284415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FDC2DC07-610F-A1D1-E638-31FBD1DE127E}"/>
                  </a:ext>
                </a:extLst>
              </p14:cNvPr>
              <p14:cNvContentPartPr/>
              <p14:nvPr/>
            </p14:nvContentPartPr>
            <p14:xfrm>
              <a:off x="648341" y="-458465"/>
              <a:ext cx="360" cy="3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FDC2DC07-610F-A1D1-E638-31FBD1DE127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2341" y="-674465"/>
                <a:ext cx="72000" cy="4320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标题 23">
            <a:extLst>
              <a:ext uri="{FF2B5EF4-FFF2-40B4-BE49-F238E27FC236}">
                <a16:creationId xmlns:a16="http://schemas.microsoft.com/office/drawing/2014/main" id="{68029BE7-E2FC-6741-981E-5BA40EA06955}"/>
              </a:ext>
            </a:extLst>
          </p:cNvPr>
          <p:cNvSpPr txBox="1"/>
          <p:nvPr/>
        </p:nvSpPr>
        <p:spPr>
          <a:xfrm>
            <a:off x="413281" y="4779213"/>
            <a:ext cx="4121367" cy="16021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800" b="1" dirty="0">
                <a:latin typeface="KaiTi" panose="02010609060101010101" pitchFamily="49" charset="-122"/>
                <a:ea typeface="KaiTi" panose="02010609060101010101" pitchFamily="49" charset="-122"/>
                <a:cs typeface="微软雅黑" panose="020B0503020204020204" pitchFamily="34" charset="-122"/>
              </a:rPr>
              <a:t>流程图</a:t>
            </a:r>
          </a:p>
        </p:txBody>
      </p:sp>
      <p:pic>
        <p:nvPicPr>
          <p:cNvPr id="7" name="图片 6" descr="卡通人物&#10;&#10;中度可信度描述已自动生成">
            <a:extLst>
              <a:ext uri="{FF2B5EF4-FFF2-40B4-BE49-F238E27FC236}">
                <a16:creationId xmlns:a16="http://schemas.microsoft.com/office/drawing/2014/main" id="{24B8ACE6-41B6-13F2-B088-DC4294C4A49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7248" b="95063" l="9934" r="89901">
                        <a14:foregroundMark x1="46854" y1="7248" x2="49007" y2="38655"/>
                        <a14:foregroundMark x1="37583" y1="95063" x2="35596" y2="806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6356" y="235328"/>
            <a:ext cx="1408991" cy="2220794"/>
          </a:xfrm>
          <a:prstGeom prst="rect">
            <a:avLst/>
          </a:prstGeom>
        </p:spPr>
      </p:pic>
      <p:pic>
        <p:nvPicPr>
          <p:cNvPr id="9" name="图片 8" descr="图形用户界面, 应用程序&#10;&#10;描述已自动生成">
            <a:extLst>
              <a:ext uri="{FF2B5EF4-FFF2-40B4-BE49-F238E27FC236}">
                <a16:creationId xmlns:a16="http://schemas.microsoft.com/office/drawing/2014/main" id="{DAE3CAEA-714C-1222-4673-D0FE3F52B39B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b="5742"/>
          <a:stretch/>
        </p:blipFill>
        <p:spPr>
          <a:xfrm>
            <a:off x="2539093" y="-24714"/>
            <a:ext cx="2613418" cy="3221671"/>
          </a:xfrm>
          <a:prstGeom prst="rect">
            <a:avLst/>
          </a:prstGeom>
        </p:spPr>
      </p:pic>
      <p:sp>
        <p:nvSpPr>
          <p:cNvPr id="10" name="右箭头 9">
            <a:extLst>
              <a:ext uri="{FF2B5EF4-FFF2-40B4-BE49-F238E27FC236}">
                <a16:creationId xmlns:a16="http://schemas.microsoft.com/office/drawing/2014/main" id="{22382971-A555-97F3-34EE-03EFACAD1BAD}"/>
              </a:ext>
            </a:extLst>
          </p:cNvPr>
          <p:cNvSpPr/>
          <p:nvPr/>
        </p:nvSpPr>
        <p:spPr>
          <a:xfrm rot="5400000">
            <a:off x="9909897" y="3088931"/>
            <a:ext cx="1084161" cy="680137"/>
          </a:xfrm>
          <a:prstGeom prst="rightArrow">
            <a:avLst>
              <a:gd name="adj1" fmla="val 40244"/>
              <a:gd name="adj2" fmla="val 50000"/>
            </a:avLst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" name="右箭头 10">
            <a:extLst>
              <a:ext uri="{FF2B5EF4-FFF2-40B4-BE49-F238E27FC236}">
                <a16:creationId xmlns:a16="http://schemas.microsoft.com/office/drawing/2014/main" id="{861F3E97-8530-DE5A-83E7-BC5DF7A21BD8}"/>
              </a:ext>
            </a:extLst>
          </p:cNvPr>
          <p:cNvSpPr/>
          <p:nvPr/>
        </p:nvSpPr>
        <p:spPr>
          <a:xfrm>
            <a:off x="1387833" y="1136759"/>
            <a:ext cx="913478" cy="559558"/>
          </a:xfrm>
          <a:prstGeom prst="rightArrow">
            <a:avLst>
              <a:gd name="adj1" fmla="val 40244"/>
              <a:gd name="adj2" fmla="val 50000"/>
            </a:avLst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4" name="图片 13" descr="文本&#10;&#10;描述已自动生成">
            <a:extLst>
              <a:ext uri="{FF2B5EF4-FFF2-40B4-BE49-F238E27FC236}">
                <a16:creationId xmlns:a16="http://schemas.microsoft.com/office/drawing/2014/main" id="{86E37EED-E4A1-2E4B-94FB-8A0786E47CF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93210" y="362187"/>
            <a:ext cx="2231375" cy="2093936"/>
          </a:xfrm>
          <a:prstGeom prst="rect">
            <a:avLst/>
          </a:prstGeom>
        </p:spPr>
      </p:pic>
      <p:grpSp>
        <p:nvGrpSpPr>
          <p:cNvPr id="19" name="组合 18">
            <a:extLst>
              <a:ext uri="{FF2B5EF4-FFF2-40B4-BE49-F238E27FC236}">
                <a16:creationId xmlns:a16="http://schemas.microsoft.com/office/drawing/2014/main" id="{8813C8FD-93F5-BF98-4C28-423C29DC2316}"/>
              </a:ext>
            </a:extLst>
          </p:cNvPr>
          <p:cNvGrpSpPr/>
          <p:nvPr/>
        </p:nvGrpSpPr>
        <p:grpSpPr>
          <a:xfrm>
            <a:off x="2539093" y="3192509"/>
            <a:ext cx="4838289" cy="3863199"/>
            <a:chOff x="3019054" y="3308614"/>
            <a:chExt cx="6365908" cy="4429623"/>
          </a:xfrm>
        </p:grpSpPr>
        <p:pic>
          <p:nvPicPr>
            <p:cNvPr id="16" name="图片 15" descr="图表, 箱线图&#10;&#10;描述已自动生成">
              <a:extLst>
                <a:ext uri="{FF2B5EF4-FFF2-40B4-BE49-F238E27FC236}">
                  <a16:creationId xmlns:a16="http://schemas.microsoft.com/office/drawing/2014/main" id="{C119FA05-30DF-58D4-4DA7-FC085B5184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l="9010" t="5696" r="9086" b="1880"/>
            <a:stretch/>
          </p:blipFill>
          <p:spPr>
            <a:xfrm>
              <a:off x="3019054" y="3308614"/>
              <a:ext cx="6365908" cy="4081139"/>
            </a:xfrm>
            <a:prstGeom prst="rect">
              <a:avLst/>
            </a:prstGeom>
          </p:spPr>
        </p:pic>
        <p:pic>
          <p:nvPicPr>
            <p:cNvPr id="18" name="图片 17" descr="图表, 箱线图&#10;&#10;描述已自动生成">
              <a:extLst>
                <a:ext uri="{FF2B5EF4-FFF2-40B4-BE49-F238E27FC236}">
                  <a16:creationId xmlns:a16="http://schemas.microsoft.com/office/drawing/2014/main" id="{5573A509-1877-BF0B-0769-44661E5447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/>
            <a:srcRect l="9140" r="9086" b="9138"/>
            <a:stretch/>
          </p:blipFill>
          <p:spPr>
            <a:xfrm>
              <a:off x="3029195" y="4704925"/>
              <a:ext cx="6355766" cy="3033312"/>
            </a:xfrm>
            <a:prstGeom prst="rect">
              <a:avLst/>
            </a:prstGeom>
          </p:spPr>
        </p:pic>
      </p:grpSp>
      <p:pic>
        <p:nvPicPr>
          <p:cNvPr id="23" name="图片 22" descr="图片包含 文本&#10;&#10;描述已自动生成">
            <a:extLst>
              <a:ext uri="{FF2B5EF4-FFF2-40B4-BE49-F238E27FC236}">
                <a16:creationId xmlns:a16="http://schemas.microsoft.com/office/drawing/2014/main" id="{B6F54252-CD8A-34DF-C82D-40F094EE6215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16430"/>
          <a:stretch/>
        </p:blipFill>
        <p:spPr>
          <a:xfrm>
            <a:off x="8581531" y="4114466"/>
            <a:ext cx="3458156" cy="2521057"/>
          </a:xfrm>
          <a:prstGeom prst="rect">
            <a:avLst/>
          </a:prstGeom>
        </p:spPr>
      </p:pic>
      <p:sp>
        <p:nvSpPr>
          <p:cNvPr id="12" name="右箭头 11">
            <a:extLst>
              <a:ext uri="{FF2B5EF4-FFF2-40B4-BE49-F238E27FC236}">
                <a16:creationId xmlns:a16="http://schemas.microsoft.com/office/drawing/2014/main" id="{3AB2B9DB-9745-0F12-D4FC-232B8B95601E}"/>
              </a:ext>
            </a:extLst>
          </p:cNvPr>
          <p:cNvSpPr/>
          <p:nvPr/>
        </p:nvSpPr>
        <p:spPr>
          <a:xfrm>
            <a:off x="5202458" y="1146228"/>
            <a:ext cx="916757" cy="559558"/>
          </a:xfrm>
          <a:prstGeom prst="rightArrow">
            <a:avLst>
              <a:gd name="adj1" fmla="val 40244"/>
              <a:gd name="adj2" fmla="val 50000"/>
            </a:avLst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4" name="图片 23" descr="图片包含 文本&#10;&#10;描述已自动生成">
            <a:extLst>
              <a:ext uri="{FF2B5EF4-FFF2-40B4-BE49-F238E27FC236}">
                <a16:creationId xmlns:a16="http://schemas.microsoft.com/office/drawing/2014/main" id="{550871A8-DD8D-58CB-6580-FAAB7B76E9F2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t="10458" r="74125" b="83973"/>
          <a:stretch/>
        </p:blipFill>
        <p:spPr>
          <a:xfrm>
            <a:off x="6219110" y="1182918"/>
            <a:ext cx="2410115" cy="452474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D09BEBFF-BD6E-6202-0D0A-E91E1AC83BFD}"/>
              </a:ext>
            </a:extLst>
          </p:cNvPr>
          <p:cNvSpPr/>
          <p:nvPr/>
        </p:nvSpPr>
        <p:spPr>
          <a:xfrm>
            <a:off x="10310609" y="558876"/>
            <a:ext cx="1490280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200" b="1" cap="none" spc="0" dirty="0" err="1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sbatch</a:t>
            </a:r>
            <a:endParaRPr lang="zh-CN" altLang="en-US" sz="3200" b="1" cap="none" spc="0" dirty="0">
              <a:ln w="13462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  <p:sp>
        <p:nvSpPr>
          <p:cNvPr id="26" name="右箭头 25">
            <a:extLst>
              <a:ext uri="{FF2B5EF4-FFF2-40B4-BE49-F238E27FC236}">
                <a16:creationId xmlns:a16="http://schemas.microsoft.com/office/drawing/2014/main" id="{02562074-D93F-753E-4A76-236436BA982F}"/>
              </a:ext>
            </a:extLst>
          </p:cNvPr>
          <p:cNvSpPr/>
          <p:nvPr/>
        </p:nvSpPr>
        <p:spPr>
          <a:xfrm>
            <a:off x="8705529" y="1168539"/>
            <a:ext cx="711377" cy="495998"/>
          </a:xfrm>
          <a:prstGeom prst="rightArrow">
            <a:avLst>
              <a:gd name="adj1" fmla="val 40244"/>
              <a:gd name="adj2" fmla="val 50000"/>
            </a:avLst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右箭头 26">
            <a:extLst>
              <a:ext uri="{FF2B5EF4-FFF2-40B4-BE49-F238E27FC236}">
                <a16:creationId xmlns:a16="http://schemas.microsoft.com/office/drawing/2014/main" id="{5AEA2C74-DA73-7839-E97E-137B39918A5C}"/>
              </a:ext>
            </a:extLst>
          </p:cNvPr>
          <p:cNvSpPr/>
          <p:nvPr/>
        </p:nvSpPr>
        <p:spPr>
          <a:xfrm rot="10800000">
            <a:off x="7451123" y="4779213"/>
            <a:ext cx="1056667" cy="559558"/>
          </a:xfrm>
          <a:prstGeom prst="rightArrow">
            <a:avLst>
              <a:gd name="adj1" fmla="val 40244"/>
              <a:gd name="adj2" fmla="val 50000"/>
            </a:avLst>
          </a:prstGeom>
          <a:solidFill>
            <a:srgbClr val="FF00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31D0EA6-B1AB-8053-58E8-F69A2BC871BB}"/>
              </a:ext>
            </a:extLst>
          </p:cNvPr>
          <p:cNvSpPr/>
          <p:nvPr/>
        </p:nvSpPr>
        <p:spPr>
          <a:xfrm>
            <a:off x="2870683" y="1581831"/>
            <a:ext cx="182614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200" b="1" cap="none" spc="0" dirty="0">
                <a:ln w="13462">
                  <a:solidFill>
                    <a:schemeClr val="bg1"/>
                  </a:solidFill>
                  <a:prstDash val="solid"/>
                </a:ln>
                <a:effectLst>
                  <a:outerShdw dist="38100" dir="2700000" algn="bl" rotWithShape="0">
                    <a:schemeClr val="accent5"/>
                  </a:outerShdw>
                </a:effectLst>
              </a:rPr>
              <a:t>任务创建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9438B1F-176A-6AEC-5B9C-343808C24056}"/>
              </a:ext>
            </a:extLst>
          </p:cNvPr>
          <p:cNvSpPr/>
          <p:nvPr/>
        </p:nvSpPr>
        <p:spPr>
          <a:xfrm>
            <a:off x="3171364" y="4010207"/>
            <a:ext cx="182614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3200" b="1" cap="none" spc="0" dirty="0">
                <a:ln w="13462">
                  <a:solidFill>
                    <a:schemeClr val="bg1"/>
                  </a:solidFill>
                  <a:prstDash val="solid"/>
                </a:ln>
                <a:effectLst>
                  <a:outerShdw dist="38100" dir="2700000" algn="bl" rotWithShape="0">
                    <a:schemeClr val="accent5"/>
                  </a:outerShdw>
                </a:effectLst>
              </a:rPr>
              <a:t>任务创建</a:t>
            </a:r>
          </a:p>
        </p:txBody>
      </p:sp>
    </p:spTree>
    <p:extLst>
      <p:ext uri="{BB962C8B-B14F-4D97-AF65-F5344CB8AC3E}">
        <p14:creationId xmlns:p14="http://schemas.microsoft.com/office/powerpoint/2010/main" val="1669782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535895F-C990-FE7B-2D35-66C46FC5F23E}"/>
              </a:ext>
            </a:extLst>
          </p:cNvPr>
          <p:cNvSpPr txBox="1"/>
          <p:nvPr/>
        </p:nvSpPr>
        <p:spPr>
          <a:xfrm>
            <a:off x="4513844" y="492229"/>
            <a:ext cx="7128029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详细了解项目后 创建出网页最初模版</a:t>
            </a:r>
            <a:endParaRPr lang="en-US" altLang="zh-CN" sz="20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了解后台所需运行参数 及 输出文件</a:t>
            </a:r>
            <a:endParaRPr lang="en-US" altLang="zh-CN" sz="20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建立可运行的“任务创建”网页界面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调整“任务创建”并和后台数据进行关联</a:t>
            </a:r>
            <a:endParaRPr lang="en-US" altLang="zh-CN" sz="20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0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建立“任务列表”网页界面和“基础模版”格式</a:t>
            </a: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将“任务列表”和“任务创建”界面关联</a:t>
            </a:r>
            <a:endParaRPr lang="en-US" altLang="zh-CN" sz="20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建立“任务详情”界面</a:t>
            </a:r>
            <a:endParaRPr lang="en-US" altLang="zh-CN" sz="20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 defTabSz="914400">
              <a:buFont typeface="Arial" panose="020B0604020202020204" pitchFamily="34" charset="0"/>
              <a:buChar char="•"/>
              <a:defRPr/>
            </a:pPr>
            <a:r>
              <a:rPr lang="zh-CN" altLang="en-US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确保“任务详情”界面可调取后台运算的输出</a:t>
            </a:r>
            <a:endParaRPr lang="en-US" altLang="zh-CN" sz="20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 defTabSz="914400">
              <a:buFont typeface="Arial" panose="020B0604020202020204" pitchFamily="34" charset="0"/>
              <a:buChar char="•"/>
              <a:defRPr/>
            </a:pPr>
            <a:r>
              <a:rPr lang="zh-CN" altLang="en-US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将三个页面互相关联，并设立相互切入按钮</a:t>
            </a:r>
            <a:endParaRPr lang="en-US" altLang="zh-CN" sz="20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 defTabSz="914400">
              <a:buFont typeface="Arial" panose="020B0604020202020204" pitchFamily="34" charset="0"/>
              <a:buChar char="•"/>
              <a:defRPr/>
            </a:pPr>
            <a:r>
              <a:rPr lang="zh-CN" altLang="en-US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为“任务列表”添加分页与搜索栏功能</a:t>
            </a:r>
            <a:endParaRPr lang="en-US" altLang="zh-CN" sz="20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 defTabSz="914400">
              <a:buFont typeface="Arial" panose="020B0604020202020204" pitchFamily="34" charset="0"/>
              <a:buChar char="•"/>
              <a:defRPr/>
            </a:pPr>
            <a:r>
              <a:rPr lang="zh-CN" altLang="en-US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为“任务详情”添加修改任务描述与刷新按钮</a:t>
            </a:r>
            <a:endParaRPr lang="en-US" altLang="zh-CN" sz="20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 defTabSz="914400">
              <a:buFont typeface="Arial" panose="020B0604020202020204" pitchFamily="34" charset="0"/>
              <a:buChar char="•"/>
              <a:defRPr/>
            </a:pPr>
            <a:r>
              <a:rPr lang="zh-CN" altLang="en-US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为“任务列表”添加删除任务按钮</a:t>
            </a:r>
            <a:endParaRPr lang="en-US" altLang="zh-CN" sz="20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 defTabSz="914400">
              <a:buFont typeface="Arial" panose="020B0604020202020204" pitchFamily="34" charset="0"/>
              <a:buChar char="•"/>
              <a:defRPr/>
            </a:pPr>
            <a:r>
              <a:rPr lang="zh-CN" altLang="en-US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运行调试修复“任务详情 ”不能正确显示图片</a:t>
            </a:r>
            <a:r>
              <a:rPr lang="en-US" altLang="zh-CN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bug</a:t>
            </a:r>
          </a:p>
          <a:p>
            <a:pPr marL="457200" indent="-457200" defTabSz="914400">
              <a:buFont typeface="Arial" panose="020B0604020202020204" pitchFamily="34" charset="0"/>
              <a:buChar char="•"/>
              <a:defRPr/>
            </a:pPr>
            <a:r>
              <a:rPr lang="zh-CN" altLang="en-US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为“任务详情”添加</a:t>
            </a:r>
            <a:r>
              <a:rPr lang="en-US" altLang="zh-CN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markdown</a:t>
            </a:r>
            <a:r>
              <a:rPr lang="zh-CN" altLang="en-US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表格显示</a:t>
            </a:r>
            <a:endParaRPr lang="en-US" altLang="zh-CN" sz="20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en-US" altLang="zh-CN" sz="20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标题 23">
            <a:extLst>
              <a:ext uri="{FF2B5EF4-FFF2-40B4-BE49-F238E27FC236}">
                <a16:creationId xmlns:a16="http://schemas.microsoft.com/office/drawing/2014/main" id="{399E8C95-B0C9-F027-B802-D72F37516786}"/>
              </a:ext>
            </a:extLst>
          </p:cNvPr>
          <p:cNvSpPr txBox="1"/>
          <p:nvPr/>
        </p:nvSpPr>
        <p:spPr>
          <a:xfrm>
            <a:off x="512417" y="4937660"/>
            <a:ext cx="7780978" cy="16021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800" b="1" dirty="0">
                <a:latin typeface="KaiTi" panose="02010609060101010101" pitchFamily="49" charset="-122"/>
                <a:ea typeface="KaiTi" panose="02010609060101010101" pitchFamily="49" charset="-122"/>
                <a:cs typeface="微软雅黑" panose="020B0503020204020204" pitchFamily="34" charset="-122"/>
              </a:rPr>
              <a:t>甘特图</a:t>
            </a:r>
            <a:r>
              <a:rPr lang="en-US" altLang="zh-CN" sz="4800" b="1" dirty="0">
                <a:latin typeface="KaiTi" panose="02010609060101010101" pitchFamily="49" charset="-122"/>
                <a:ea typeface="KaiTi" panose="02010609060101010101" pitchFamily="49" charset="-122"/>
                <a:cs typeface="微软雅黑" panose="020B0503020204020204" pitchFamily="34" charset="-122"/>
              </a:rPr>
              <a:t>-</a:t>
            </a:r>
            <a:r>
              <a:rPr lang="zh-CN" altLang="en-US" sz="4800" b="1" dirty="0">
                <a:latin typeface="KaiTi" panose="02010609060101010101" pitchFamily="49" charset="-122"/>
                <a:ea typeface="KaiTi" panose="02010609060101010101" pitchFamily="49" charset="-122"/>
                <a:cs typeface="微软雅黑" panose="020B0503020204020204" pitchFamily="34" charset="-122"/>
              </a:rPr>
              <a:t>按照</a:t>
            </a:r>
            <a:r>
              <a:rPr lang="en-US" altLang="zh-CN" sz="4800" b="1" dirty="0" err="1">
                <a:latin typeface="KaiTi" panose="02010609060101010101" pitchFamily="49" charset="-122"/>
                <a:ea typeface="KaiTi" panose="02010609060101010101" pitchFamily="49" charset="-122"/>
                <a:cs typeface="微软雅黑" panose="020B0503020204020204" pitchFamily="34" charset="-122"/>
              </a:rPr>
              <a:t>kimi</a:t>
            </a:r>
            <a:r>
              <a:rPr lang="zh-CN" altLang="en-US" sz="4800" b="1" dirty="0">
                <a:latin typeface="KaiTi" panose="02010609060101010101" pitchFamily="49" charset="-122"/>
                <a:ea typeface="KaiTi" panose="02010609060101010101" pitchFamily="49" charset="-122"/>
                <a:cs typeface="微软雅黑" panose="020B0503020204020204" pitchFamily="34" charset="-122"/>
              </a:rPr>
              <a:t>修改</a:t>
            </a:r>
          </a:p>
        </p:txBody>
      </p:sp>
    </p:spTree>
    <p:extLst>
      <p:ext uri="{BB962C8B-B14F-4D97-AF65-F5344CB8AC3E}">
        <p14:creationId xmlns:p14="http://schemas.microsoft.com/office/powerpoint/2010/main" val="6189795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FDC2DC07-610F-A1D1-E638-31FBD1DE127E}"/>
                  </a:ext>
                </a:extLst>
              </p14:cNvPr>
              <p14:cNvContentPartPr/>
              <p14:nvPr/>
            </p14:nvContentPartPr>
            <p14:xfrm>
              <a:off x="648341" y="-458465"/>
              <a:ext cx="360" cy="3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FDC2DC07-610F-A1D1-E638-31FBD1DE127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2341" y="-674465"/>
                <a:ext cx="72000" cy="4320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矩形 2">
            <a:extLst>
              <a:ext uri="{FF2B5EF4-FFF2-40B4-BE49-F238E27FC236}">
                <a16:creationId xmlns:a16="http://schemas.microsoft.com/office/drawing/2014/main" id="{F29ADA42-0722-970E-D1A9-85003E6CA100}"/>
              </a:ext>
            </a:extLst>
          </p:cNvPr>
          <p:cNvSpPr/>
          <p:nvPr/>
        </p:nvSpPr>
        <p:spPr>
          <a:xfrm>
            <a:off x="948251" y="3836773"/>
            <a:ext cx="411801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7200" b="1" cap="none" spc="50" dirty="0">
                <a:ln w="9525" cmpd="sng">
                  <a:solidFill>
                    <a:schemeClr val="tx1"/>
                  </a:solidFill>
                  <a:prstDash val="solid"/>
                </a:ln>
                <a:noFill/>
                <a:effectLst/>
                <a:latin typeface="KaiTi" panose="02010609060101010101" pitchFamily="49" charset="-122"/>
                <a:ea typeface="KaiTi" panose="02010609060101010101" pitchFamily="49" charset="-122"/>
              </a:rPr>
              <a:t>感谢收看</a:t>
            </a:r>
          </a:p>
        </p:txBody>
      </p:sp>
    </p:spTree>
    <p:extLst>
      <p:ext uri="{BB962C8B-B14F-4D97-AF65-F5344CB8AC3E}">
        <p14:creationId xmlns:p14="http://schemas.microsoft.com/office/powerpoint/2010/main" val="22676586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AEBAB3A-AC99-7CEA-F54A-6BA2E1DC499B}"/>
              </a:ext>
            </a:extLst>
          </p:cNvPr>
          <p:cNvSpPr/>
          <p:nvPr/>
        </p:nvSpPr>
        <p:spPr>
          <a:xfrm>
            <a:off x="5311171" y="2967335"/>
            <a:ext cx="15696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附录</a:t>
            </a:r>
            <a:r>
              <a:rPr lang="en-US" altLang="zh-CN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	</a:t>
            </a:r>
            <a:endParaRPr lang="zh-CN" alt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374996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FDC2DC07-610F-A1D1-E638-31FBD1DE127E}"/>
                  </a:ext>
                </a:extLst>
              </p14:cNvPr>
              <p14:cNvContentPartPr/>
              <p14:nvPr/>
            </p14:nvContentPartPr>
            <p14:xfrm>
              <a:off x="648341" y="-458465"/>
              <a:ext cx="360" cy="3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FDC2DC07-610F-A1D1-E638-31FBD1DE127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2341" y="-674465"/>
                <a:ext cx="72000" cy="4320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标题 23">
            <a:extLst>
              <a:ext uri="{FF2B5EF4-FFF2-40B4-BE49-F238E27FC236}">
                <a16:creationId xmlns:a16="http://schemas.microsoft.com/office/drawing/2014/main" id="{68029BE7-E2FC-6741-981E-5BA40EA06955}"/>
              </a:ext>
            </a:extLst>
          </p:cNvPr>
          <p:cNvSpPr txBox="1"/>
          <p:nvPr/>
        </p:nvSpPr>
        <p:spPr>
          <a:xfrm>
            <a:off x="648341" y="3983085"/>
            <a:ext cx="4121367" cy="16021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800" b="1" dirty="0">
                <a:latin typeface="KaiTi" panose="02010609060101010101" pitchFamily="49" charset="-122"/>
                <a:ea typeface="KaiTi" panose="02010609060101010101" pitchFamily="49" charset="-122"/>
                <a:cs typeface="微软雅黑" panose="020B0503020204020204" pitchFamily="34" charset="-122"/>
              </a:rPr>
              <a:t>程序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65498D9-236D-3B3E-842E-A0CD31E2245A}"/>
              </a:ext>
            </a:extLst>
          </p:cNvPr>
          <p:cNvSpPr txBox="1"/>
          <p:nvPr/>
        </p:nvSpPr>
        <p:spPr>
          <a:xfrm>
            <a:off x="4349578" y="240804"/>
            <a:ext cx="7194081" cy="565347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800100" lvl="1" indent="-342900" defTabSz="914400">
              <a:lnSpc>
                <a:spcPct val="300000"/>
              </a:lnSpc>
              <a:buFont typeface="Wingdings" pitchFamily="2" charset="2"/>
              <a:buChar char="l"/>
              <a:defRPr/>
            </a:pPr>
            <a:r>
              <a:rPr lang="zh-CN" altLang="en-US" sz="24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用户页面（列表，创建，查看）</a:t>
            </a:r>
            <a:endParaRPr lang="en-US" altLang="zh-CN" sz="24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 defTabSz="914400">
              <a:lnSpc>
                <a:spcPct val="300000"/>
              </a:lnSpc>
              <a:buFont typeface="Wingdings" pitchFamily="2" charset="2"/>
              <a:buChar char="l"/>
              <a:defRPr/>
            </a:pPr>
            <a:r>
              <a:rPr lang="zh-CN" altLang="en-US" sz="24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后台运算（计算数据，图像生成，上传数据库）</a:t>
            </a:r>
            <a:endParaRPr lang="en-US" altLang="zh-CN" sz="24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 defTabSz="914400">
              <a:lnSpc>
                <a:spcPct val="300000"/>
              </a:lnSpc>
              <a:buFont typeface="Wingdings" pitchFamily="2" charset="2"/>
              <a:buChar char="l"/>
              <a:defRPr/>
            </a:pPr>
            <a:r>
              <a:rPr lang="zh-CN" altLang="en-US" sz="24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数据库（已执行任务生成的数据）</a:t>
            </a:r>
            <a:endParaRPr lang="en-US" altLang="zh-CN" sz="24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 defTabSz="914400">
              <a:lnSpc>
                <a:spcPct val="300000"/>
              </a:lnSpc>
              <a:buFont typeface="Wingdings" pitchFamily="2" charset="2"/>
              <a:buChar char="l"/>
              <a:defRPr/>
            </a:pPr>
            <a:r>
              <a:rPr lang="zh-CN" altLang="en-US" sz="24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所需环境</a:t>
            </a:r>
            <a:endParaRPr lang="en-US" altLang="zh-CN" sz="24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257300" lvl="2" indent="-342900" defTabSz="914400">
              <a:buFont typeface="Wingdings" pitchFamily="2" charset="2"/>
              <a:buChar char="l"/>
              <a:defRPr/>
            </a:pPr>
            <a:r>
              <a:rPr lang="en-US" altLang="zh-CN" b="1" kern="0" dirty="0" err="1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requirements.txt</a:t>
            </a:r>
            <a:r>
              <a:rPr lang="en-US" altLang="zh-CN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(</a:t>
            </a:r>
            <a:r>
              <a:rPr lang="zh-CN" altLang="en-US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包含全部需要环境）</a:t>
            </a:r>
            <a:endParaRPr lang="en-US" altLang="zh-CN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257300" lvl="2" indent="-342900" defTabSz="914400">
              <a:lnSpc>
                <a:spcPct val="300000"/>
              </a:lnSpc>
              <a:buFont typeface="Wingdings" pitchFamily="2" charset="2"/>
              <a:buChar char="l"/>
              <a:defRPr/>
            </a:pPr>
            <a:endParaRPr lang="en-US" altLang="zh-CN" sz="24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68327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FDC2DC07-610F-A1D1-E638-31FBD1DE127E}"/>
                  </a:ext>
                </a:extLst>
              </p14:cNvPr>
              <p14:cNvContentPartPr/>
              <p14:nvPr/>
            </p14:nvContentPartPr>
            <p14:xfrm>
              <a:off x="648341" y="-458465"/>
              <a:ext cx="360" cy="3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FDC2DC07-610F-A1D1-E638-31FBD1DE127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2341" y="-674465"/>
                <a:ext cx="72000" cy="4320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标题 23">
            <a:extLst>
              <a:ext uri="{FF2B5EF4-FFF2-40B4-BE49-F238E27FC236}">
                <a16:creationId xmlns:a16="http://schemas.microsoft.com/office/drawing/2014/main" id="{68029BE7-E2FC-6741-981E-5BA40EA06955}"/>
              </a:ext>
            </a:extLst>
          </p:cNvPr>
          <p:cNvSpPr txBox="1"/>
          <p:nvPr/>
        </p:nvSpPr>
        <p:spPr>
          <a:xfrm>
            <a:off x="648341" y="3983085"/>
            <a:ext cx="4121367" cy="16021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800" b="1" dirty="0">
                <a:latin typeface="KaiTi" panose="02010609060101010101" pitchFamily="49" charset="-122"/>
                <a:ea typeface="KaiTi" panose="02010609060101010101" pitchFamily="49" charset="-122"/>
                <a:cs typeface="微软雅黑" panose="020B0503020204020204" pitchFamily="34" charset="-122"/>
              </a:rPr>
              <a:t>用户页面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65498D9-236D-3B3E-842E-A0CD31E2245A}"/>
              </a:ext>
            </a:extLst>
          </p:cNvPr>
          <p:cNvSpPr txBox="1"/>
          <p:nvPr/>
        </p:nvSpPr>
        <p:spPr>
          <a:xfrm>
            <a:off x="3435178" y="240804"/>
            <a:ext cx="8108481" cy="298543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800100" lvl="1" indent="-342900" defTabSz="914400">
              <a:buFont typeface="Arial" panose="020B0604020202020204" pitchFamily="34" charset="0"/>
              <a:buChar char="•"/>
              <a:defRPr/>
            </a:pPr>
            <a:r>
              <a:rPr lang="en-US" altLang="zh-CN" sz="2800" b="1" kern="0" dirty="0" err="1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job_manager</a:t>
            </a:r>
            <a:endParaRPr lang="en-US" altLang="zh-CN" sz="28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257300" lvl="2" indent="-342900" defTabSz="914400">
              <a:buFont typeface="Arial" panose="020B0604020202020204" pitchFamily="34" charset="0"/>
              <a:buChar char="•"/>
              <a:defRPr/>
            </a:pPr>
            <a:r>
              <a:rPr lang="en-US" altLang="zh-CN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template</a:t>
            </a:r>
          </a:p>
          <a:p>
            <a:pPr marL="1714500" lvl="3" indent="-342900" defTabSz="914400">
              <a:buFont typeface="Arial" panose="020B0604020202020204" pitchFamily="34" charset="0"/>
              <a:buChar char="•"/>
              <a:defRPr/>
            </a:pPr>
            <a:r>
              <a:rPr lang="en-US" altLang="zh-CN" sz="2000" b="1" kern="0" dirty="0" err="1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archive.html</a:t>
            </a:r>
            <a:endParaRPr lang="en-US" altLang="zh-CN" sz="20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0" lvl="3" indent="-342900" defTabSz="914400">
              <a:buFont typeface="Arial" panose="020B0604020202020204" pitchFamily="34" charset="0"/>
              <a:buChar char="•"/>
              <a:defRPr/>
            </a:pPr>
            <a:r>
              <a:rPr lang="en-US" altLang="zh-CN" sz="2000" b="1" kern="0" dirty="0" err="1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base.html</a:t>
            </a:r>
            <a:r>
              <a:rPr lang="zh-CN" altLang="en-US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（列表与查看的格式）</a:t>
            </a:r>
            <a:endParaRPr lang="en-US" altLang="zh-CN" sz="20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0" lvl="3" indent="-342900" defTabSz="914400">
              <a:buFont typeface="Arial" panose="020B0604020202020204" pitchFamily="34" charset="0"/>
              <a:buChar char="•"/>
              <a:defRPr/>
            </a:pPr>
            <a:r>
              <a:rPr lang="en-US" altLang="zh-CN" sz="2000" b="1" kern="0" dirty="0" err="1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job_create.html</a:t>
            </a:r>
            <a:r>
              <a:rPr lang="zh-CN" altLang="en-US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（任务创建页面）</a:t>
            </a:r>
            <a:endParaRPr lang="en-US" altLang="zh-CN" sz="20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0" lvl="3" indent="-342900" defTabSz="914400">
              <a:buFont typeface="Arial" panose="020B0604020202020204" pitchFamily="34" charset="0"/>
              <a:buChar char="•"/>
              <a:defRPr/>
            </a:pPr>
            <a:r>
              <a:rPr lang="en-US" altLang="zh-CN" sz="2000" b="1" kern="0" dirty="0" err="1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job_list.html</a:t>
            </a:r>
            <a:r>
              <a:rPr lang="zh-CN" altLang="en-US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（任务列表页面）</a:t>
            </a:r>
            <a:endParaRPr lang="en-US" altLang="zh-CN" sz="20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0" lvl="3" indent="-342900" defTabSz="914400">
              <a:buFont typeface="Arial" panose="020B0604020202020204" pitchFamily="34" charset="0"/>
              <a:buChar char="•"/>
              <a:defRPr/>
            </a:pPr>
            <a:r>
              <a:rPr lang="en-US" altLang="zh-CN" sz="2000" b="1" kern="0" dirty="0" err="1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job_view.html</a:t>
            </a:r>
            <a:r>
              <a:rPr lang="zh-CN" altLang="en-US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（任务查看页面）</a:t>
            </a:r>
            <a:endParaRPr lang="en-US" altLang="zh-CN" sz="20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0" lvl="3" indent="-342900" defTabSz="914400">
              <a:buFont typeface="Arial" panose="020B0604020202020204" pitchFamily="34" charset="0"/>
              <a:buChar char="•"/>
              <a:defRPr/>
            </a:pPr>
            <a:r>
              <a:rPr lang="en-US" altLang="zh-CN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tryWeb02.html</a:t>
            </a:r>
            <a:r>
              <a:rPr lang="zh-CN" altLang="en-US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（任务常见的模版）</a:t>
            </a:r>
            <a:endParaRPr lang="en-US" altLang="zh-CN" sz="20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 defTabSz="914400">
              <a:buFont typeface="Arial" panose="020B0604020202020204" pitchFamily="34" charset="0"/>
              <a:buChar char="•"/>
              <a:defRPr/>
            </a:pPr>
            <a:endParaRPr lang="en-US" altLang="zh-CN" sz="20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8" name="图片 7" descr="电脑萤幕的截图&#10;&#10;描述已自动生成">
            <a:extLst>
              <a:ext uri="{FF2B5EF4-FFF2-40B4-BE49-F238E27FC236}">
                <a16:creationId xmlns:a16="http://schemas.microsoft.com/office/drawing/2014/main" id="{9E567C7A-3CAF-56B8-571A-5EF31DA3FCE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925" r="-114" b="11196"/>
          <a:stretch/>
        </p:blipFill>
        <p:spPr>
          <a:xfrm>
            <a:off x="4170640" y="3226237"/>
            <a:ext cx="6503307" cy="3538774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174256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FDC2DC07-610F-A1D1-E638-31FBD1DE127E}"/>
                  </a:ext>
                </a:extLst>
              </p14:cNvPr>
              <p14:cNvContentPartPr/>
              <p14:nvPr/>
            </p14:nvContentPartPr>
            <p14:xfrm>
              <a:off x="648341" y="-458465"/>
              <a:ext cx="360" cy="3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FDC2DC07-610F-A1D1-E638-31FBD1DE127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12341" y="-674465"/>
                <a:ext cx="72000" cy="4320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标题 23">
            <a:extLst>
              <a:ext uri="{FF2B5EF4-FFF2-40B4-BE49-F238E27FC236}">
                <a16:creationId xmlns:a16="http://schemas.microsoft.com/office/drawing/2014/main" id="{68029BE7-E2FC-6741-981E-5BA40EA06955}"/>
              </a:ext>
            </a:extLst>
          </p:cNvPr>
          <p:cNvSpPr txBox="1"/>
          <p:nvPr/>
        </p:nvSpPr>
        <p:spPr>
          <a:xfrm>
            <a:off x="648341" y="3983085"/>
            <a:ext cx="4121367" cy="16021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800" b="1" dirty="0">
                <a:latin typeface="KaiTi" panose="02010609060101010101" pitchFamily="49" charset="-122"/>
                <a:ea typeface="KaiTi" panose="02010609060101010101" pitchFamily="49" charset="-122"/>
                <a:cs typeface="微软雅黑" panose="020B0503020204020204" pitchFamily="34" charset="-122"/>
              </a:rPr>
              <a:t>后台运算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65498D9-236D-3B3E-842E-A0CD31E2245A}"/>
              </a:ext>
            </a:extLst>
          </p:cNvPr>
          <p:cNvSpPr txBox="1"/>
          <p:nvPr/>
        </p:nvSpPr>
        <p:spPr>
          <a:xfrm>
            <a:off x="5022632" y="393204"/>
            <a:ext cx="6988136" cy="526297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800100" lvl="1" indent="-342900" defTabSz="914400">
              <a:buFont typeface="Arial" panose="020B0604020202020204" pitchFamily="34" charset="0"/>
              <a:buChar char="•"/>
              <a:defRPr/>
            </a:pPr>
            <a:r>
              <a:rPr lang="en-US" altLang="zh-CN" sz="28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tools</a:t>
            </a:r>
          </a:p>
          <a:p>
            <a:pPr marL="1257300" lvl="2" indent="-342900" defTabSz="914400">
              <a:buFont typeface="Arial" panose="020B0604020202020204" pitchFamily="34" charset="0"/>
              <a:buChar char="•"/>
              <a:defRPr/>
            </a:pPr>
            <a:r>
              <a:rPr lang="en-US" altLang="zh-CN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__</a:t>
            </a:r>
            <a:r>
              <a:rPr lang="en-US" altLang="zh-CN" sz="2000" b="1" kern="0" dirty="0" err="1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init</a:t>
            </a:r>
            <a:r>
              <a:rPr lang="en-US" altLang="zh-CN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__.</a:t>
            </a:r>
            <a:r>
              <a:rPr lang="en-US" altLang="zh-CN" sz="2000" b="1" kern="0" dirty="0" err="1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py</a:t>
            </a:r>
            <a:endParaRPr lang="en-US" altLang="zh-CN" sz="20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257300" lvl="2" indent="-342900" defTabSz="914400">
              <a:buFont typeface="Arial" panose="020B0604020202020204" pitchFamily="34" charset="0"/>
              <a:buChar char="•"/>
              <a:defRPr/>
            </a:pPr>
            <a:r>
              <a:rPr lang="en-US" altLang="zh-CN" sz="2000" b="1" kern="0" dirty="0" err="1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allsort.molg</a:t>
            </a:r>
            <a:r>
              <a:rPr lang="zh-CN" altLang="en-US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（计算画图所需数据）</a:t>
            </a:r>
            <a:endParaRPr lang="en-US" altLang="zh-CN" sz="20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257300" lvl="2" indent="-342900" defTabSz="914400">
              <a:buFont typeface="Arial" panose="020B0604020202020204" pitchFamily="34" charset="0"/>
              <a:buChar char="•"/>
              <a:defRPr/>
            </a:pPr>
            <a:r>
              <a:rPr lang="en-US" altLang="zh-CN" sz="2000" b="1" kern="0" dirty="0" err="1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allsort.py</a:t>
            </a:r>
            <a:r>
              <a:rPr lang="zh-CN" altLang="en-US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（计算画图所需数据）</a:t>
            </a:r>
            <a:endParaRPr lang="en-US" altLang="zh-CN" sz="20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257300" lvl="2" indent="-342900" defTabSz="914400">
              <a:buFont typeface="Arial" panose="020B0604020202020204" pitchFamily="34" charset="0"/>
              <a:buChar char="•"/>
              <a:defRPr/>
            </a:pPr>
            <a:r>
              <a:rPr lang="en-US" altLang="zh-CN" sz="2000" b="1" kern="0" dirty="0" err="1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config.json</a:t>
            </a:r>
            <a:r>
              <a:rPr lang="zh-CN" altLang="en-US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（被生成的任务数据）</a:t>
            </a:r>
            <a:endParaRPr lang="en-US" altLang="zh-CN" sz="20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257300" lvl="2" indent="-342900" defTabSz="914400">
              <a:buFont typeface="Arial" panose="020B0604020202020204" pitchFamily="34" charset="0"/>
              <a:buChar char="•"/>
              <a:defRPr/>
            </a:pPr>
            <a:r>
              <a:rPr lang="en-US" altLang="zh-CN" sz="2000" b="1" kern="0" dirty="0" err="1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draw_all_variables.py</a:t>
            </a:r>
            <a:r>
              <a:rPr lang="zh-CN" altLang="en-US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（生成反应物生成物官能团随反应时间变化图）</a:t>
            </a:r>
            <a:endParaRPr lang="en-US" altLang="zh-CN" sz="20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371600" lvl="2" indent="-457200" defTabSz="914400">
              <a:buFont typeface="Arial" panose="020B0604020202020204" pitchFamily="34" charset="0"/>
              <a:buChar char="•"/>
              <a:defRPr/>
            </a:pPr>
            <a:r>
              <a:rPr lang="en-US" altLang="zh-CN" sz="2000" b="1" kern="0" dirty="0" err="1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draw_cluster.py</a:t>
            </a:r>
            <a:r>
              <a:rPr lang="zh-CN" altLang="en-US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（生成反应生成分子链分布情况”图像，分子链分布与组成表格</a:t>
            </a:r>
            <a:r>
              <a:rPr lang="en-US" altLang="zh-CN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)</a:t>
            </a:r>
          </a:p>
          <a:p>
            <a:pPr marL="1257300" lvl="2" indent="-342900" defTabSz="914400">
              <a:buFont typeface="Arial" panose="020B0604020202020204" pitchFamily="34" charset="0"/>
              <a:buChar char="•"/>
              <a:defRPr/>
            </a:pPr>
            <a:r>
              <a:rPr lang="en-US" altLang="zh-CN" sz="2000" b="1" kern="0" dirty="0" err="1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test.sh</a:t>
            </a:r>
            <a:r>
              <a:rPr lang="zh-CN" altLang="en-US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（调用画图程序）</a:t>
            </a:r>
            <a:endParaRPr lang="en-US" altLang="zh-CN" sz="20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257300" lvl="2" indent="-342900" defTabSz="914400">
              <a:buFont typeface="Arial" panose="020B0604020202020204" pitchFamily="34" charset="0"/>
              <a:buChar char="•"/>
              <a:defRPr/>
            </a:pPr>
            <a:r>
              <a:rPr lang="en-US" altLang="zh-CN" sz="2000" b="1" kern="0" dirty="0" err="1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wip.jpg</a:t>
            </a:r>
            <a:r>
              <a:rPr lang="zh-CN" altLang="en-US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（加载中的图像）</a:t>
            </a:r>
            <a:endParaRPr lang="en-US" altLang="zh-CN" sz="20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257300" lvl="2" indent="-342900" defTabSz="914400">
              <a:buFont typeface="Arial" panose="020B0604020202020204" pitchFamily="34" charset="0"/>
              <a:buChar char="•"/>
              <a:defRPr/>
            </a:pPr>
            <a:endParaRPr lang="en-US" altLang="zh-CN" sz="20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257300" lvl="2" indent="-342900" defTabSz="914400">
              <a:buFont typeface="Arial" panose="020B0604020202020204" pitchFamily="34" charset="0"/>
              <a:buChar char="•"/>
              <a:defRPr/>
            </a:pPr>
            <a:endParaRPr lang="en-US" altLang="zh-CN" sz="20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257300" lvl="2" indent="-342900" defTabSz="914400">
              <a:buFont typeface="Arial" panose="020B0604020202020204" pitchFamily="34" charset="0"/>
              <a:buChar char="•"/>
              <a:defRPr/>
            </a:pPr>
            <a:endParaRPr lang="en-US" altLang="zh-CN" sz="20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 defTabSz="914400">
              <a:buFont typeface="Arial" panose="020B0604020202020204" pitchFamily="34" charset="0"/>
              <a:buChar char="•"/>
              <a:defRPr/>
            </a:pPr>
            <a:endParaRPr lang="en-US" altLang="zh-CN" sz="28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257300" lvl="2" indent="-342900" defTabSz="914400">
              <a:buFont typeface="Arial" panose="020B0604020202020204" pitchFamily="34" charset="0"/>
              <a:buChar char="•"/>
              <a:defRPr/>
            </a:pPr>
            <a:endParaRPr lang="en-US" altLang="zh-CN" sz="20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20482EB-B2CC-7A8F-3FF2-B8491CF6B0B4}"/>
              </a:ext>
            </a:extLst>
          </p:cNvPr>
          <p:cNvSpPr txBox="1"/>
          <p:nvPr/>
        </p:nvSpPr>
        <p:spPr>
          <a:xfrm>
            <a:off x="395417" y="393204"/>
            <a:ext cx="6005384" cy="464742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800100" lvl="1" indent="-342900" defTabSz="914400">
              <a:buFont typeface="Arial" panose="020B0604020202020204" pitchFamily="34" charset="0"/>
              <a:buChar char="•"/>
              <a:defRPr/>
            </a:pPr>
            <a:r>
              <a:rPr lang="en-US" altLang="zh-CN" sz="2800" b="1" kern="0" dirty="0" err="1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job_manager</a:t>
            </a:r>
            <a:endParaRPr lang="en-US" altLang="zh-CN" sz="28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257300" lvl="2" indent="-342900" defTabSz="914400">
              <a:buFont typeface="Arial" panose="020B0604020202020204" pitchFamily="34" charset="0"/>
              <a:buChar char="•"/>
              <a:defRPr/>
            </a:pPr>
            <a:r>
              <a:rPr lang="en-US" altLang="zh-CN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test</a:t>
            </a:r>
            <a:r>
              <a:rPr lang="zh-CN" altLang="en-US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</a:t>
            </a:r>
            <a:endParaRPr lang="en-US" altLang="zh-CN" sz="20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0" lvl="3" indent="-342900" defTabSz="914400">
              <a:buFont typeface="Arial" panose="020B0604020202020204" pitchFamily="34" charset="0"/>
              <a:buChar char="•"/>
              <a:defRPr/>
            </a:pPr>
            <a:r>
              <a:rPr lang="en-US" altLang="zh-CN" sz="2000" b="1" kern="0" dirty="0" err="1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test.ipynb</a:t>
            </a:r>
            <a:r>
              <a:rPr lang="zh-CN" altLang="en-US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（实验代码）</a:t>
            </a:r>
            <a:endParaRPr lang="en-US" altLang="zh-CN" sz="20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0" lvl="3" indent="-342900" defTabSz="914400">
              <a:buFont typeface="Arial" panose="020B0604020202020204" pitchFamily="34" charset="0"/>
              <a:buChar char="•"/>
              <a:defRPr/>
            </a:pPr>
            <a:endParaRPr lang="en-US" altLang="zh-CN" sz="20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257300" lvl="2" indent="-342900" defTabSz="914400">
              <a:buFont typeface="Arial" panose="020B0604020202020204" pitchFamily="34" charset="0"/>
              <a:buChar char="•"/>
              <a:defRPr/>
            </a:pPr>
            <a:r>
              <a:rPr lang="en-US" altLang="zh-CN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__</a:t>
            </a:r>
            <a:r>
              <a:rPr lang="en-US" altLang="zh-CN" sz="2000" b="1" kern="0" dirty="0" err="1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init</a:t>
            </a:r>
            <a:r>
              <a:rPr lang="en-US" altLang="zh-CN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__.</a:t>
            </a:r>
            <a:r>
              <a:rPr lang="en-US" altLang="zh-CN" sz="2000" b="1" kern="0" dirty="0" err="1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py</a:t>
            </a:r>
            <a:endParaRPr lang="en-US" altLang="zh-CN" sz="20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257300" lvl="2" indent="-342900" defTabSz="914400">
              <a:buFont typeface="Arial" panose="020B0604020202020204" pitchFamily="34" charset="0"/>
              <a:buChar char="•"/>
              <a:defRPr/>
            </a:pPr>
            <a:r>
              <a:rPr lang="en-US" altLang="zh-CN" sz="2000" b="1" kern="0" dirty="0" err="1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admin.py</a:t>
            </a:r>
            <a:endParaRPr lang="en-US" altLang="zh-CN" sz="20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257300" lvl="2" indent="-342900" defTabSz="914400">
              <a:buFont typeface="Arial" panose="020B0604020202020204" pitchFamily="34" charset="0"/>
              <a:buChar char="•"/>
              <a:defRPr/>
            </a:pPr>
            <a:r>
              <a:rPr lang="en-US" altLang="zh-CN" sz="2000" b="1" kern="0" dirty="0" err="1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apps.py</a:t>
            </a:r>
            <a:endParaRPr lang="en-US" altLang="zh-CN" sz="20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257300" lvl="2" indent="-342900" defTabSz="914400">
              <a:buFont typeface="Arial" panose="020B0604020202020204" pitchFamily="34" charset="0"/>
              <a:buChar char="•"/>
              <a:defRPr/>
            </a:pPr>
            <a:r>
              <a:rPr lang="en-US" altLang="zh-CN" sz="2000" b="1" kern="0" dirty="0" err="1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forms.py</a:t>
            </a:r>
            <a:endParaRPr lang="en-US" altLang="zh-CN" sz="20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257300" lvl="2" indent="-342900" defTabSz="914400">
              <a:buFont typeface="Arial" panose="020B0604020202020204" pitchFamily="34" charset="0"/>
              <a:buChar char="•"/>
              <a:defRPr/>
            </a:pPr>
            <a:r>
              <a:rPr lang="en-US" altLang="zh-CN" sz="2000" b="1" kern="0" dirty="0" err="1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models.py</a:t>
            </a:r>
            <a:r>
              <a:rPr lang="zh-CN" altLang="en-US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（创造并定义所需值）</a:t>
            </a:r>
            <a:endParaRPr lang="en-US" altLang="zh-CN" sz="20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257300" lvl="2" indent="-342900" defTabSz="914400">
              <a:buFont typeface="Arial" panose="020B0604020202020204" pitchFamily="34" charset="0"/>
              <a:buChar char="•"/>
              <a:defRPr/>
            </a:pPr>
            <a:r>
              <a:rPr lang="en-US" altLang="zh-CN" sz="2000" b="1" kern="0" dirty="0" err="1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urls.py</a:t>
            </a:r>
            <a:r>
              <a:rPr lang="zh-CN" altLang="en-US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（转接</a:t>
            </a:r>
            <a:r>
              <a:rPr lang="en-US" altLang="zh-CN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联系代码）</a:t>
            </a:r>
            <a:endParaRPr lang="en-US" altLang="zh-CN" sz="20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257300" lvl="2" indent="-342900" defTabSz="914400">
              <a:buFont typeface="Arial" panose="020B0604020202020204" pitchFamily="34" charset="0"/>
              <a:buChar char="•"/>
              <a:defRPr/>
            </a:pPr>
            <a:r>
              <a:rPr lang="en-US" altLang="zh-CN" sz="2000" b="1" kern="0" dirty="0" err="1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views.py</a:t>
            </a:r>
            <a:r>
              <a:rPr lang="zh-CN" altLang="en-US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（定义，调用，赋值）</a:t>
            </a:r>
            <a:endParaRPr lang="en-US" altLang="zh-CN" sz="20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257300" lvl="2" indent="-342900" defTabSz="914400">
              <a:buFont typeface="Arial" panose="020B0604020202020204" pitchFamily="34" charset="0"/>
              <a:buChar char="•"/>
              <a:defRPr/>
            </a:pPr>
            <a:endParaRPr lang="en-US" altLang="zh-CN" sz="20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800100" lvl="1" indent="-342900" defTabSz="914400">
              <a:buFont typeface="Arial" panose="020B0604020202020204" pitchFamily="34" charset="0"/>
              <a:buChar char="•"/>
              <a:defRPr/>
            </a:pPr>
            <a:endParaRPr lang="en-US" altLang="zh-CN" sz="28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257300" lvl="2" indent="-342900" defTabSz="914400">
              <a:buFont typeface="Arial" panose="020B0604020202020204" pitchFamily="34" charset="0"/>
              <a:buChar char="•"/>
              <a:defRPr/>
            </a:pPr>
            <a:endParaRPr lang="en-US" altLang="zh-CN" sz="20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8700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FDC2DC07-610F-A1D1-E638-31FBD1DE127E}"/>
                  </a:ext>
                </a:extLst>
              </p14:cNvPr>
              <p14:cNvContentPartPr/>
              <p14:nvPr/>
            </p14:nvContentPartPr>
            <p14:xfrm>
              <a:off x="648341" y="-458465"/>
              <a:ext cx="360" cy="3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FDC2DC07-610F-A1D1-E638-31FBD1DE127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2341" y="-674465"/>
                <a:ext cx="72000" cy="4320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标题 23">
            <a:extLst>
              <a:ext uri="{FF2B5EF4-FFF2-40B4-BE49-F238E27FC236}">
                <a16:creationId xmlns:a16="http://schemas.microsoft.com/office/drawing/2014/main" id="{68029BE7-E2FC-6741-981E-5BA40EA06955}"/>
              </a:ext>
            </a:extLst>
          </p:cNvPr>
          <p:cNvSpPr txBox="1"/>
          <p:nvPr/>
        </p:nvSpPr>
        <p:spPr>
          <a:xfrm>
            <a:off x="660699" y="3983085"/>
            <a:ext cx="2929994" cy="16021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800" b="1" dirty="0">
                <a:latin typeface="KaiTi" panose="02010609060101010101" pitchFamily="49" charset="-122"/>
                <a:ea typeface="KaiTi" panose="02010609060101010101" pitchFamily="49" charset="-122"/>
                <a:cs typeface="微软雅黑" panose="020B0503020204020204" pitchFamily="34" charset="-122"/>
              </a:rPr>
              <a:t>后台接口</a:t>
            </a:r>
            <a:endParaRPr lang="en-US" altLang="zh-CN" sz="4800" b="1" dirty="0">
              <a:latin typeface="KaiTi" panose="02010609060101010101" pitchFamily="49" charset="-122"/>
              <a:ea typeface="KaiTi" panose="02010609060101010101" pitchFamily="49" charset="-122"/>
              <a:cs typeface="微软雅黑" panose="020B0503020204020204" pitchFamily="34" charset="-122"/>
            </a:endParaRPr>
          </a:p>
          <a:p>
            <a:r>
              <a:rPr lang="en-US" altLang="zh-CN" sz="4800" b="1" dirty="0" err="1">
                <a:latin typeface="KaiTi" panose="02010609060101010101" pitchFamily="49" charset="-122"/>
                <a:ea typeface="KaiTi" panose="02010609060101010101" pitchFamily="49" charset="-122"/>
                <a:cs typeface="微软雅黑" panose="020B0503020204020204" pitchFamily="34" charset="-122"/>
              </a:rPr>
              <a:t>galamost</a:t>
            </a:r>
            <a:endParaRPr lang="zh-CN" altLang="en-US" sz="4800" b="1" dirty="0">
              <a:latin typeface="KaiTi" panose="02010609060101010101" pitchFamily="49" charset="-122"/>
              <a:ea typeface="KaiTi" panose="02010609060101010101" pitchFamily="49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65498D9-236D-3B3E-842E-A0CD31E2245A}"/>
              </a:ext>
            </a:extLst>
          </p:cNvPr>
          <p:cNvSpPr txBox="1"/>
          <p:nvPr/>
        </p:nvSpPr>
        <p:spPr>
          <a:xfrm>
            <a:off x="2559910" y="443655"/>
            <a:ext cx="9487928" cy="403187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38100" h="38100" prst="convex"/>
            </a:sp3d>
          </a:bodyPr>
          <a:lstStyle/>
          <a:p>
            <a:pPr marL="800100" lvl="1" indent="-342900" defTabSz="914400">
              <a:buFont typeface="Arial" panose="020B0604020202020204" pitchFamily="34" charset="0"/>
              <a:buChar char="•"/>
              <a:defRPr/>
            </a:pPr>
            <a:r>
              <a:rPr lang="en-US" altLang="zh-CN" sz="28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tools</a:t>
            </a:r>
          </a:p>
          <a:p>
            <a:pPr marL="1257300" lvl="2" indent="-342900" defTabSz="914400">
              <a:buFont typeface="Arial" panose="020B0604020202020204" pitchFamily="34" charset="0"/>
              <a:buChar char="•"/>
              <a:defRPr/>
            </a:pPr>
            <a:r>
              <a:rPr lang="en-US" altLang="zh-CN" sz="2000" b="1" kern="0" dirty="0" err="1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job_id</a:t>
            </a:r>
            <a:r>
              <a:rPr lang="en-US" altLang="zh-CN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 (</a:t>
            </a:r>
            <a:r>
              <a:rPr lang="zh-CN" altLang="en-US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为现有任务的</a:t>
            </a:r>
            <a:r>
              <a:rPr lang="en-US" altLang="zh-CN" sz="2000" b="1" kern="0" dirty="0" err="1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job_id</a:t>
            </a:r>
            <a:endParaRPr lang="en-US" altLang="zh-CN" sz="20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0" lvl="3" indent="-342900" defTabSz="914400">
              <a:buFont typeface="Arial" panose="020B0604020202020204" pitchFamily="34" charset="0"/>
              <a:buChar char="•"/>
              <a:defRPr/>
            </a:pPr>
            <a:r>
              <a:rPr lang="zh-CN" altLang="en-US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包含 所有生成文件</a:t>
            </a:r>
            <a:endParaRPr lang="en-US" altLang="zh-CN" sz="20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0" lvl="3" indent="-342900" defTabSz="914400">
              <a:buFont typeface="Arial" panose="020B0604020202020204" pitchFamily="34" charset="0"/>
              <a:buChar char="•"/>
              <a:defRPr/>
            </a:pPr>
            <a:r>
              <a:rPr lang="zh-CN" altLang="en-US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包含 图片 与 表格</a:t>
            </a:r>
            <a:endParaRPr lang="en-US" altLang="zh-CN" sz="20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257300" lvl="2" indent="-342900" defTabSz="914400">
              <a:buFont typeface="Arial" panose="020B0604020202020204" pitchFamily="34" charset="0"/>
              <a:buChar char="•"/>
              <a:defRPr/>
            </a:pPr>
            <a:r>
              <a:rPr lang="en-US" altLang="zh-CN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output</a:t>
            </a:r>
          </a:p>
          <a:p>
            <a:pPr marL="1714500" lvl="3" indent="-342900" defTabSz="914400">
              <a:buFont typeface="Arial" panose="020B0604020202020204" pitchFamily="34" charset="0"/>
              <a:buChar char="•"/>
              <a:defRPr/>
            </a:pPr>
            <a:r>
              <a:rPr lang="en-US" altLang="zh-CN" sz="2000" b="1" kern="0" dirty="0" err="1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job_output_sbatch_id.txt</a:t>
            </a:r>
            <a:r>
              <a:rPr lang="zh-CN" altLang="en-US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（对应任务输出</a:t>
            </a:r>
            <a:endParaRPr lang="en-US" altLang="zh-CN" sz="20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0" lvl="3" indent="-342900" defTabSz="914400">
              <a:buFont typeface="Arial" panose="020B0604020202020204" pitchFamily="34" charset="0"/>
              <a:buChar char="•"/>
              <a:defRPr/>
            </a:pPr>
            <a:r>
              <a:rPr lang="en-US" altLang="zh-CN" sz="2000" b="1" kern="0" dirty="0" err="1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job_error_sbatch_id.txt</a:t>
            </a:r>
            <a:r>
              <a:rPr lang="zh-CN" altLang="en-US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（对应任务错误</a:t>
            </a:r>
            <a:endParaRPr lang="en-US" altLang="zh-CN" sz="20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171700" lvl="4" indent="-342900" defTabSz="914400">
              <a:buFont typeface="Arial" panose="020B0604020202020204" pitchFamily="34" charset="0"/>
              <a:buChar char="•"/>
              <a:defRPr/>
            </a:pPr>
            <a:r>
              <a:rPr lang="en-US" altLang="zh-CN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000" b="1" kern="0" dirty="0" err="1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sbatch_id</a:t>
            </a:r>
            <a:r>
              <a:rPr lang="zh-CN" altLang="en-US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为现有任务的</a:t>
            </a:r>
            <a:r>
              <a:rPr lang="en-US" altLang="zh-CN" sz="2000" b="1" kern="0" dirty="0" err="1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sbatch_id</a:t>
            </a:r>
            <a:endParaRPr lang="en-US" altLang="zh-CN" sz="20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2171700" lvl="4" indent="-342900" defTabSz="914400">
              <a:buFont typeface="Arial" panose="020B0604020202020204" pitchFamily="34" charset="0"/>
              <a:buChar char="•"/>
              <a:defRPr/>
            </a:pPr>
            <a:endParaRPr lang="en-US" altLang="zh-CN" sz="20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0" lvl="3" indent="-342900" defTabSz="914400">
              <a:buFont typeface="Arial" panose="020B0604020202020204" pitchFamily="34" charset="0"/>
              <a:buChar char="•"/>
              <a:defRPr/>
            </a:pPr>
            <a:endParaRPr lang="en-US" altLang="zh-CN" sz="20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714500" lvl="3" indent="-342900" defTabSz="914400">
              <a:buFont typeface="Arial" panose="020B0604020202020204" pitchFamily="34" charset="0"/>
              <a:buChar char="•"/>
              <a:defRPr/>
            </a:pPr>
            <a:endParaRPr lang="en-US" altLang="zh-CN" sz="28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1257300" lvl="2" indent="-342900" defTabSz="914400">
              <a:buFont typeface="Arial" panose="020B0604020202020204" pitchFamily="34" charset="0"/>
              <a:buChar char="•"/>
              <a:defRPr/>
            </a:pPr>
            <a:endParaRPr lang="en-US" altLang="zh-CN" sz="20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 descr="图形用户界面, 应用程序&#10;&#10;描述已自动生成">
            <a:extLst>
              <a:ext uri="{FF2B5EF4-FFF2-40B4-BE49-F238E27FC236}">
                <a16:creationId xmlns:a16="http://schemas.microsoft.com/office/drawing/2014/main" id="{F35DCE58-6508-EDE3-34F2-46FCF561761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31834"/>
          <a:stretch/>
        </p:blipFill>
        <p:spPr>
          <a:xfrm>
            <a:off x="4015998" y="3246532"/>
            <a:ext cx="6713035" cy="336627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8391014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2" name="墨迹 1">
                <a:extLst>
                  <a:ext uri="{FF2B5EF4-FFF2-40B4-BE49-F238E27FC236}">
                    <a16:creationId xmlns:a16="http://schemas.microsoft.com/office/drawing/2014/main" id="{FDC2DC07-610F-A1D1-E638-31FBD1DE127E}"/>
                  </a:ext>
                </a:extLst>
              </p14:cNvPr>
              <p14:cNvContentPartPr/>
              <p14:nvPr/>
            </p14:nvContentPartPr>
            <p14:xfrm>
              <a:off x="648341" y="-458465"/>
              <a:ext cx="360" cy="360"/>
            </p14:xfrm>
          </p:contentPart>
        </mc:Choice>
        <mc:Fallback xmlns="">
          <p:pic>
            <p:nvPicPr>
              <p:cNvPr id="2" name="墨迹 1">
                <a:extLst>
                  <a:ext uri="{FF2B5EF4-FFF2-40B4-BE49-F238E27FC236}">
                    <a16:creationId xmlns:a16="http://schemas.microsoft.com/office/drawing/2014/main" id="{FDC2DC07-610F-A1D1-E638-31FBD1DE127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2341" y="-674465"/>
                <a:ext cx="72000" cy="4320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标题 23">
            <a:extLst>
              <a:ext uri="{FF2B5EF4-FFF2-40B4-BE49-F238E27FC236}">
                <a16:creationId xmlns:a16="http://schemas.microsoft.com/office/drawing/2014/main" id="{68029BE7-E2FC-6741-981E-5BA40EA06955}"/>
              </a:ext>
            </a:extLst>
          </p:cNvPr>
          <p:cNvSpPr txBox="1"/>
          <p:nvPr/>
        </p:nvSpPr>
        <p:spPr>
          <a:xfrm>
            <a:off x="648341" y="3983085"/>
            <a:ext cx="4121367" cy="16021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4800" b="1" dirty="0">
                <a:latin typeface="KaiTi" panose="02010609060101010101" pitchFamily="49" charset="-122"/>
                <a:ea typeface="KaiTi" panose="02010609060101010101" pitchFamily="49" charset="-122"/>
                <a:cs typeface="微软雅黑" panose="020B0503020204020204" pitchFamily="34" charset="-122"/>
              </a:rPr>
              <a:t>项目完成情况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65498D9-236D-3B3E-842E-A0CD31E2245A}"/>
              </a:ext>
            </a:extLst>
          </p:cNvPr>
          <p:cNvSpPr txBox="1"/>
          <p:nvPr/>
        </p:nvSpPr>
        <p:spPr>
          <a:xfrm>
            <a:off x="4275439" y="0"/>
            <a:ext cx="7735328" cy="3776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用户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UI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（操作界面）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457200" defTabSz="9144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用户可以通过：任务列表、任务创建 与 任务详情 </a:t>
            </a:r>
            <a:r>
              <a:rPr lang="en-US" altLang="zh-CN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个可视化网页进行管理</a:t>
            </a:r>
            <a:endParaRPr lang="en-US" altLang="zh-CN" sz="20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后台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457200" defTabSz="9144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zh-CN" altLang="en-US" sz="2000" b="1" kern="0" dirty="0">
                <a:latin typeface="KaiTi" panose="02010609060101010101" pitchFamily="49" charset="-122"/>
                <a:ea typeface="KaiTi" panose="02010609060101010101" pitchFamily="49" charset="-122"/>
                <a:cs typeface="Times New Roman" panose="02020603050405020304" pitchFamily="18" charset="0"/>
              </a:rPr>
              <a:t>用户输入材料投入份数后，传到数据于后台并进行运算。结束后输出相应图表。</a:t>
            </a:r>
            <a:endParaRPr lang="en-US" altLang="zh-CN" sz="2000" b="1" kern="0" dirty="0"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  <a:p>
            <a:pPr marL="914400" lvl="1" indent="-457200" defTabSz="91440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KaiTi" panose="02010609060101010101" pitchFamily="49" charset="-122"/>
              <a:ea typeface="KaiTi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22731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6500,&quot;width&quot;:7771}"/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SplashVTI">
  <a:themeElements>
    <a:clrScheme name="Custom 11">
      <a:dk1>
        <a:srgbClr val="262626"/>
      </a:dk1>
      <a:lt1>
        <a:sysClr val="window" lastClr="FFFFFF"/>
      </a:lt1>
      <a:dk2>
        <a:srgbClr val="2F333D"/>
      </a:dk2>
      <a:lt2>
        <a:srgbClr val="E9F3F3"/>
      </a:lt2>
      <a:accent1>
        <a:srgbClr val="1EBE9B"/>
      </a:accent1>
      <a:accent2>
        <a:srgbClr val="FD8686"/>
      </a:accent2>
      <a:accent3>
        <a:srgbClr val="0AC8AD"/>
      </a:accent3>
      <a:accent4>
        <a:srgbClr val="E69500"/>
      </a:accent4>
      <a:accent5>
        <a:srgbClr val="EC4E70"/>
      </a:accent5>
      <a:accent6>
        <a:srgbClr val="794DFF"/>
      </a:accent6>
      <a:hlink>
        <a:srgbClr val="3E8FF1"/>
      </a:hlink>
      <a:folHlink>
        <a:srgbClr val="939393"/>
      </a:folHlink>
    </a:clrScheme>
    <a:fontScheme name="Custom 23">
      <a:majorFont>
        <a:latin typeface="Posterama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plashVTI" id="{CD38C481-21EC-466B-953B-A1440B42712A}" vid="{D3E4813C-1D98-48C2-AF59-2D0D78E25500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{D4177EA3-0BC8-B84B-8145-4957E47C7AC6}tf10001063</Template>
  <TotalTime>16977</TotalTime>
  <Words>2046</Words>
  <Application>Microsoft Macintosh PowerPoint</Application>
  <PresentationFormat>宽屏</PresentationFormat>
  <Paragraphs>217</Paragraphs>
  <Slides>19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等线</vt:lpstr>
      <vt:lpstr>黑体</vt:lpstr>
      <vt:lpstr>KaiTi</vt:lpstr>
      <vt:lpstr>Arial</vt:lpstr>
      <vt:lpstr>Avenir Next LT Pro</vt:lpstr>
      <vt:lpstr>Posterama</vt:lpstr>
      <vt:lpstr>Times New Roman</vt:lpstr>
      <vt:lpstr>Wingdings</vt:lpstr>
      <vt:lpstr>SplashVTI</vt:lpstr>
      <vt:lpstr>弹性体材料模型建立与性能模拟- 前端模块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聚氨酯弹性体材料模型建立 与性能模拟 </dc:title>
  <dc:creator>Dong, Tiger</dc:creator>
  <cp:lastModifiedBy>Dong, Tiger</cp:lastModifiedBy>
  <cp:revision>28</cp:revision>
  <dcterms:created xsi:type="dcterms:W3CDTF">2024-06-27T02:11:54Z</dcterms:created>
  <dcterms:modified xsi:type="dcterms:W3CDTF">2024-07-10T07:57:13Z</dcterms:modified>
</cp:coreProperties>
</file>